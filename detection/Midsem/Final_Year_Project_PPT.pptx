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13.jpg" ContentType="image/jpeg"/>
  <Override PartName="/ppt/media/image14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74" r:id="rId5"/>
    <p:sldId id="275" r:id="rId6"/>
    <p:sldId id="276" r:id="rId7"/>
    <p:sldId id="263" r:id="rId8"/>
    <p:sldId id="264" r:id="rId9"/>
    <p:sldId id="265" r:id="rId10"/>
    <p:sldId id="266" r:id="rId11"/>
    <p:sldId id="267" r:id="rId12"/>
    <p:sldId id="269" r:id="rId13"/>
    <p:sldId id="270" r:id="rId14"/>
    <p:sldId id="271" r:id="rId15"/>
    <p:sldId id="273" r:id="rId16"/>
    <p:sldId id="272" r:id="rId17"/>
    <p:sldId id="259" r:id="rId18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488" autoAdjust="0"/>
  </p:normalViewPr>
  <p:slideViewPr>
    <p:cSldViewPr>
      <p:cViewPr varScale="1">
        <p:scale>
          <a:sx n="127" d="100"/>
          <a:sy n="127" d="100"/>
        </p:scale>
        <p:origin x="1987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85EB4D-A7B3-4E98-B340-F5FCB9091D9F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4B0936-59CE-4798-9EC4-D92C5EA6A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874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(Solves the CNN limitation)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(Solves the Faster R-CNN limitation)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(Solves the Binary Detection limitation)</a:t>
            </a:r>
          </a:p>
          <a:p>
            <a:r>
              <a:rPr kumimoji="0" lang="en-US" altLang="en-US" sz="12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(Solves the manual Color Analysis limitation)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A6376-5555-4F4B-965A-705B630CD52F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5361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10" dirty="0"/>
              <a:t>Department</a:t>
            </a:r>
            <a:r>
              <a:rPr spc="20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spc="-10" dirty="0"/>
              <a:t>Information</a:t>
            </a:r>
            <a:r>
              <a:rPr spc="20" dirty="0"/>
              <a:t> </a:t>
            </a:r>
            <a:r>
              <a:rPr spc="-10" dirty="0"/>
              <a:t>and</a:t>
            </a:r>
            <a:r>
              <a:rPr spc="20" dirty="0"/>
              <a:t> </a:t>
            </a:r>
            <a:r>
              <a:rPr spc="-20" dirty="0"/>
              <a:t>Communication</a:t>
            </a:r>
            <a:r>
              <a:rPr spc="20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10" dirty="0"/>
              <a:t>Department</a:t>
            </a:r>
            <a:r>
              <a:rPr spc="20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spc="-10" dirty="0"/>
              <a:t>Information</a:t>
            </a:r>
            <a:r>
              <a:rPr spc="20" dirty="0"/>
              <a:t> </a:t>
            </a:r>
            <a:r>
              <a:rPr spc="-10" dirty="0"/>
              <a:t>and</a:t>
            </a:r>
            <a:r>
              <a:rPr spc="20" dirty="0"/>
              <a:t> </a:t>
            </a:r>
            <a:r>
              <a:rPr spc="-20" dirty="0"/>
              <a:t>Communication</a:t>
            </a:r>
            <a:r>
              <a:rPr spc="20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10" dirty="0"/>
              <a:t>Department</a:t>
            </a:r>
            <a:r>
              <a:rPr spc="20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spc="-10" dirty="0"/>
              <a:t>Information</a:t>
            </a:r>
            <a:r>
              <a:rPr spc="20" dirty="0"/>
              <a:t> </a:t>
            </a:r>
            <a:r>
              <a:rPr spc="-10" dirty="0"/>
              <a:t>and</a:t>
            </a:r>
            <a:r>
              <a:rPr spc="20" dirty="0"/>
              <a:t> </a:t>
            </a:r>
            <a:r>
              <a:rPr spc="-20" dirty="0"/>
              <a:t>Communication</a:t>
            </a:r>
            <a:r>
              <a:rPr spc="20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10" dirty="0"/>
              <a:t>Department</a:t>
            </a:r>
            <a:r>
              <a:rPr spc="20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spc="-10" dirty="0"/>
              <a:t>Information</a:t>
            </a:r>
            <a:r>
              <a:rPr spc="20" dirty="0"/>
              <a:t> </a:t>
            </a:r>
            <a:r>
              <a:rPr spc="-10" dirty="0"/>
              <a:t>and</a:t>
            </a:r>
            <a:r>
              <a:rPr spc="20" dirty="0"/>
              <a:t> </a:t>
            </a:r>
            <a:r>
              <a:rPr spc="-20" dirty="0"/>
              <a:t>Communication</a:t>
            </a:r>
            <a:r>
              <a:rPr spc="20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52798" y="2856039"/>
            <a:ext cx="300645" cy="35995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-4"/>
            <a:ext cx="4608060" cy="31125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10" dirty="0"/>
              <a:t>Department</a:t>
            </a:r>
            <a:r>
              <a:rPr spc="20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spc="-10" dirty="0"/>
              <a:t>Information</a:t>
            </a:r>
            <a:r>
              <a:rPr spc="20" dirty="0"/>
              <a:t> </a:t>
            </a:r>
            <a:r>
              <a:rPr spc="-10" dirty="0"/>
              <a:t>and</a:t>
            </a:r>
            <a:r>
              <a:rPr spc="20" dirty="0"/>
              <a:t> </a:t>
            </a:r>
            <a:r>
              <a:rPr spc="-20" dirty="0"/>
              <a:t>Communication</a:t>
            </a:r>
            <a:r>
              <a:rPr spc="20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52798" y="2856039"/>
            <a:ext cx="300645" cy="3599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9994" y="1312092"/>
            <a:ext cx="3989704" cy="284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4395" y="633384"/>
            <a:ext cx="2321560" cy="2125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5300" y="3344944"/>
            <a:ext cx="2108835" cy="1041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10" dirty="0"/>
              <a:t>Department</a:t>
            </a:r>
            <a:r>
              <a:rPr spc="20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spc="-10" dirty="0"/>
              <a:t>Information</a:t>
            </a:r>
            <a:r>
              <a:rPr spc="20" dirty="0"/>
              <a:t> </a:t>
            </a:r>
            <a:r>
              <a:rPr spc="-10" dirty="0"/>
              <a:t>and</a:t>
            </a:r>
            <a:r>
              <a:rPr spc="20" dirty="0"/>
              <a:t> </a:t>
            </a:r>
            <a:r>
              <a:rPr spc="-20" dirty="0"/>
              <a:t>Communication</a:t>
            </a:r>
            <a:r>
              <a:rPr spc="20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800"/>
          </a:xfrm>
          <a:custGeom>
            <a:avLst/>
            <a:gdLst/>
            <a:ahLst/>
            <a:cxnLst/>
            <a:rect l="l" t="t" r="r" b="b"/>
            <a:pathLst>
              <a:path w="4608195" h="50800">
                <a:moveTo>
                  <a:pt x="4608060" y="0"/>
                </a:moveTo>
                <a:lnTo>
                  <a:pt x="0" y="0"/>
                </a:lnTo>
                <a:lnTo>
                  <a:pt x="0" y="50610"/>
                </a:lnTo>
                <a:lnTo>
                  <a:pt x="4608060" y="50610"/>
                </a:lnTo>
                <a:lnTo>
                  <a:pt x="46080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09193" y="532294"/>
            <a:ext cx="4040504" cy="300355"/>
            <a:chOff x="309193" y="532294"/>
            <a:chExt cx="4040504" cy="300355"/>
          </a:xfrm>
        </p:grpSpPr>
        <p:sp>
          <p:nvSpPr>
            <p:cNvPr id="4" name="object 4"/>
            <p:cNvSpPr/>
            <p:nvPr/>
          </p:nvSpPr>
          <p:spPr>
            <a:xfrm>
              <a:off x="309193" y="532294"/>
              <a:ext cx="3989704" cy="82550"/>
            </a:xfrm>
            <a:custGeom>
              <a:avLst/>
              <a:gdLst/>
              <a:ahLst/>
              <a:cxnLst/>
              <a:rect l="l" t="t" r="r" b="b"/>
              <a:pathLst>
                <a:path w="3989704" h="82550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3989652" y="82384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9994" y="595561"/>
              <a:ext cx="3989704" cy="236854"/>
            </a:xfrm>
            <a:custGeom>
              <a:avLst/>
              <a:gdLst/>
              <a:ahLst/>
              <a:cxnLst/>
              <a:rect l="l" t="t" r="r" b="b"/>
              <a:pathLst>
                <a:path w="3989704" h="236855">
                  <a:moveTo>
                    <a:pt x="3989652" y="0"/>
                  </a:moveTo>
                  <a:lnTo>
                    <a:pt x="0" y="0"/>
                  </a:lnTo>
                  <a:lnTo>
                    <a:pt x="0" y="236658"/>
                  </a:lnTo>
                  <a:lnTo>
                    <a:pt x="3989652" y="236658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09193" y="576724"/>
              <a:ext cx="3989704" cy="205104"/>
            </a:xfrm>
            <a:custGeom>
              <a:avLst/>
              <a:gdLst/>
              <a:ahLst/>
              <a:cxnLst/>
              <a:rect l="l" t="t" r="r" b="b"/>
              <a:pathLst>
                <a:path w="3989704" h="205104">
                  <a:moveTo>
                    <a:pt x="3989652" y="0"/>
                  </a:moveTo>
                  <a:lnTo>
                    <a:pt x="0" y="0"/>
                  </a:lnTo>
                  <a:lnTo>
                    <a:pt x="0" y="153893"/>
                  </a:lnTo>
                  <a:lnTo>
                    <a:pt x="4008" y="173618"/>
                  </a:lnTo>
                  <a:lnTo>
                    <a:pt x="14922" y="189771"/>
                  </a:lnTo>
                  <a:lnTo>
                    <a:pt x="31075" y="200685"/>
                  </a:lnTo>
                  <a:lnTo>
                    <a:pt x="50800" y="204694"/>
                  </a:lnTo>
                  <a:lnTo>
                    <a:pt x="3938852" y="204694"/>
                  </a:lnTo>
                  <a:lnTo>
                    <a:pt x="3958576" y="200685"/>
                  </a:lnTo>
                  <a:lnTo>
                    <a:pt x="3974729" y="189771"/>
                  </a:lnTo>
                  <a:lnTo>
                    <a:pt x="3985644" y="173618"/>
                  </a:lnTo>
                  <a:lnTo>
                    <a:pt x="3989652" y="153893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-666750" y="587672"/>
            <a:ext cx="4800600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8725" algn="ctr">
              <a:lnSpc>
                <a:spcPts val="1120"/>
              </a:lnSpc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 and Smoke Detection using Deep Learning Models 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29359" y="775091"/>
            <a:ext cx="1942491" cy="1197572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sz="1100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z="1100" i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</a:t>
            </a:r>
            <a:r>
              <a:rPr sz="1100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05" algn="ctr">
              <a:lnSpc>
                <a:spcPct val="100000"/>
              </a:lnSpc>
              <a:spcBef>
                <a:spcPts val="605"/>
              </a:spcBef>
            </a:pPr>
            <a:r>
              <a:rPr lang="en-US" sz="1100" b="1" spc="-2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Chintakunta</a:t>
            </a:r>
            <a:r>
              <a:rPr lang="en-US" sz="11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Guru Dinesh Reddy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1780" marR="260985" algn="ctr">
              <a:lnSpc>
                <a:spcPct val="102600"/>
              </a:lnSpc>
            </a:pPr>
            <a:r>
              <a:rPr lang="en-US"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220905438</a:t>
            </a:r>
          </a:p>
          <a:p>
            <a:pPr marL="271780" marR="260985" algn="ctr">
              <a:lnSpc>
                <a:spcPct val="102600"/>
              </a:lnSpc>
            </a:pP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</a:t>
            </a:r>
          </a:p>
          <a:p>
            <a:pPr marL="271780" marR="260985" algn="ctr">
              <a:lnSpc>
                <a:spcPct val="102600"/>
              </a:lnSpc>
            </a:pP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19050" algn="ctr">
              <a:lnSpc>
                <a:spcPct val="100000"/>
              </a:lnSpc>
            </a:pPr>
            <a:r>
              <a:rPr sz="1100" i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</a:t>
            </a:r>
            <a:r>
              <a:rPr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i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guidance</a:t>
            </a:r>
            <a:r>
              <a:rPr sz="1100" i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 flipH="1">
            <a:off x="1429357" y="2109278"/>
            <a:ext cx="1692379" cy="67069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285"/>
              </a:lnSpc>
              <a:spcBef>
                <a:spcPts val="90"/>
              </a:spcBef>
            </a:pPr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Sucharitha Shetty</a:t>
            </a:r>
          </a:p>
          <a:p>
            <a:pPr algn="ctr"/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 </a:t>
            </a:r>
          </a:p>
          <a:p>
            <a:pPr algn="ctr"/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Engineering </a:t>
            </a:r>
          </a:p>
          <a:p>
            <a:br>
              <a:rPr lang="en-US" sz="800" dirty="0"/>
            </a:br>
            <a:endParaRPr sz="8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47850" y="2603003"/>
            <a:ext cx="914400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March</a:t>
            </a:r>
            <a:r>
              <a:rPr sz="800" b="1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b="1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800" b="1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8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</a:t>
            </a:r>
            <a:r>
              <a:rPr lang="en-US" sz="8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329876"/>
            <a:ext cx="4608195" cy="126364"/>
            <a:chOff x="0" y="3329876"/>
            <a:chExt cx="4608195" cy="126364"/>
          </a:xfrm>
        </p:grpSpPr>
        <p:sp>
          <p:nvSpPr>
            <p:cNvPr id="13" name="object 13"/>
            <p:cNvSpPr/>
            <p:nvPr/>
          </p:nvSpPr>
          <p:spPr>
            <a:xfrm>
              <a:off x="0" y="3329876"/>
              <a:ext cx="2304415" cy="126364"/>
            </a:xfrm>
            <a:custGeom>
              <a:avLst/>
              <a:gdLst/>
              <a:ahLst/>
              <a:cxnLst/>
              <a:rect l="l" t="t" r="r" b="b"/>
              <a:pathLst>
                <a:path w="2304415" h="126364">
                  <a:moveTo>
                    <a:pt x="2303995" y="0"/>
                  </a:moveTo>
                  <a:lnTo>
                    <a:pt x="0" y="0"/>
                  </a:lnTo>
                  <a:lnTo>
                    <a:pt x="0" y="126123"/>
                  </a:lnTo>
                  <a:lnTo>
                    <a:pt x="2303995" y="12612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303995" y="3329876"/>
              <a:ext cx="2304415" cy="126364"/>
            </a:xfrm>
            <a:custGeom>
              <a:avLst/>
              <a:gdLst/>
              <a:ahLst/>
              <a:cxnLst/>
              <a:rect l="l" t="t" r="r" b="b"/>
              <a:pathLst>
                <a:path w="2304415" h="126364">
                  <a:moveTo>
                    <a:pt x="2303995" y="0"/>
                  </a:moveTo>
                  <a:lnTo>
                    <a:pt x="0" y="0"/>
                  </a:lnTo>
                  <a:lnTo>
                    <a:pt x="0" y="126123"/>
                  </a:lnTo>
                  <a:lnTo>
                    <a:pt x="2303995" y="12612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xfrm>
            <a:off x="95300" y="3344944"/>
            <a:ext cx="21088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685"/>
              </a:lnSpc>
            </a:pP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Engineering </a:t>
            </a:r>
          </a:p>
          <a:p>
            <a:pPr marL="12700">
              <a:lnSpc>
                <a:spcPts val="685"/>
              </a:lnSpc>
            </a:pPr>
            <a:endParaRPr spc="-10" dirty="0"/>
          </a:p>
        </p:txBody>
      </p:sp>
      <p:sp>
        <p:nvSpPr>
          <p:cNvPr id="16" name="object 16"/>
          <p:cNvSpPr txBox="1"/>
          <p:nvPr/>
        </p:nvSpPr>
        <p:spPr>
          <a:xfrm>
            <a:off x="3121736" y="3344944"/>
            <a:ext cx="326314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85"/>
              </a:lnSpc>
            </a:pPr>
            <a:fld id="{81D60167-4931-47E6-BA6A-407CBD079E47}" type="slidenum">
              <a:rPr sz="600" b="1" spc="75" smtClean="0">
                <a:solidFill>
                  <a:srgbClr val="FFFFFF"/>
                </a:solidFill>
                <a:latin typeface="Arial"/>
                <a:cs typeface="Arial"/>
              </a:rPr>
              <a:t>1</a:t>
            </a:fld>
            <a:r>
              <a:rPr sz="600" b="1" spc="75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lang="en-US" sz="600" b="1" spc="55" dirty="0">
                <a:solidFill>
                  <a:srgbClr val="FFFFFF"/>
                </a:solidFill>
                <a:latin typeface="Arial"/>
                <a:cs typeface="Arial"/>
              </a:rPr>
              <a:t>17</a:t>
            </a:r>
            <a:endParaRPr sz="6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4"/>
            <a:ext cx="4608060" cy="31125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4762" y="-2580"/>
            <a:ext cx="15563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0" spc="-30" dirty="0">
                <a:solidFill>
                  <a:srgbClr val="FFFFFF"/>
                </a:solidFill>
                <a:latin typeface="Tahoma"/>
                <a:cs typeface="Tahoma"/>
              </a:rPr>
              <a:t>Presentation</a:t>
            </a:r>
            <a:r>
              <a:rPr sz="1400" b="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0" spc="-10" dirty="0">
                <a:solidFill>
                  <a:srgbClr val="FFFFFF"/>
                </a:solidFill>
                <a:latin typeface="Tahoma"/>
                <a:cs typeface="Tahoma"/>
              </a:rPr>
              <a:t>Outline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9135" y="731275"/>
            <a:ext cx="114214" cy="11421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72668" y="719803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pc="-10" dirty="0"/>
              <a:t>Introduction</a:t>
            </a:r>
          </a:p>
          <a:p>
            <a:pPr marL="12700" marR="5080">
              <a:lnSpc>
                <a:spcPct val="125299"/>
              </a:lnSpc>
            </a:pPr>
            <a:r>
              <a:rPr spc="-20" dirty="0"/>
              <a:t>Literature</a:t>
            </a:r>
            <a:r>
              <a:rPr spc="-15" dirty="0"/>
              <a:t> </a:t>
            </a:r>
            <a:r>
              <a:rPr spc="-40" dirty="0"/>
              <a:t>Survey</a:t>
            </a:r>
            <a:r>
              <a:rPr spc="-15" dirty="0"/>
              <a:t> </a:t>
            </a:r>
            <a:r>
              <a:rPr spc="114" dirty="0"/>
              <a:t>/</a:t>
            </a:r>
            <a:r>
              <a:rPr spc="-15" dirty="0"/>
              <a:t> </a:t>
            </a:r>
            <a:r>
              <a:rPr spc="-30" dirty="0"/>
              <a:t>Background</a:t>
            </a:r>
            <a:r>
              <a:rPr spc="-15" dirty="0"/>
              <a:t> </a:t>
            </a:r>
            <a:r>
              <a:rPr spc="-35" dirty="0"/>
              <a:t>Theory </a:t>
            </a:r>
            <a:r>
              <a:rPr spc="-20" dirty="0"/>
              <a:t>Problem</a:t>
            </a:r>
            <a:r>
              <a:rPr spc="-40" dirty="0"/>
              <a:t> </a:t>
            </a:r>
            <a:r>
              <a:rPr spc="-10" dirty="0"/>
              <a:t>Definition</a:t>
            </a:r>
          </a:p>
          <a:p>
            <a:pPr marL="12700" marR="1353185">
              <a:lnSpc>
                <a:spcPct val="125299"/>
              </a:lnSpc>
            </a:pPr>
            <a:r>
              <a:rPr spc="-10" dirty="0"/>
              <a:t>Objectives Methodology </a:t>
            </a:r>
            <a:r>
              <a:rPr spc="-45" dirty="0"/>
              <a:t>Workdone</a:t>
            </a:r>
            <a:r>
              <a:rPr spc="-35" dirty="0"/>
              <a:t> </a:t>
            </a:r>
            <a:r>
              <a:rPr spc="-30" dirty="0"/>
              <a:t>so</a:t>
            </a:r>
            <a:r>
              <a:rPr spc="-35" dirty="0"/>
              <a:t> </a:t>
            </a:r>
            <a:r>
              <a:rPr spc="-55" dirty="0"/>
              <a:t>far </a:t>
            </a:r>
            <a:r>
              <a:rPr spc="-35" dirty="0"/>
              <a:t>Remaining</a:t>
            </a:r>
            <a:r>
              <a:rPr spc="-30" dirty="0"/>
              <a:t> </a:t>
            </a:r>
            <a:r>
              <a:rPr spc="-20" dirty="0"/>
              <a:t>work </a:t>
            </a:r>
            <a:r>
              <a:rPr spc="-10" dirty="0"/>
              <a:t>Scope Conclusion References</a:t>
            </a: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9135" y="941308"/>
            <a:ext cx="114214" cy="11421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72668" y="929835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9135" y="1151340"/>
            <a:ext cx="114214" cy="11421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72668" y="1139868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49135" y="1361373"/>
            <a:ext cx="114214" cy="11421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72668" y="1349900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60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49135" y="1571405"/>
            <a:ext cx="114214" cy="11421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472668" y="1559933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60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49135" y="1781438"/>
            <a:ext cx="114214" cy="114214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472668" y="1769966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600">
              <a:latin typeface="Arial"/>
              <a:cs typeface="Arial"/>
            </a:endParaRPr>
          </a:p>
        </p:txBody>
      </p: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49135" y="1991471"/>
            <a:ext cx="114214" cy="11421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472668" y="1979998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600">
              <a:latin typeface="Arial"/>
              <a:cs typeface="Arial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49135" y="2201503"/>
            <a:ext cx="114214" cy="114214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472668" y="2190031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600">
              <a:latin typeface="Arial"/>
              <a:cs typeface="Arial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49135" y="2411536"/>
            <a:ext cx="114214" cy="114214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472668" y="2400063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sz="600">
              <a:latin typeface="Arial"/>
              <a:cs typeface="Arial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49135" y="2621569"/>
            <a:ext cx="114214" cy="114214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451789" y="2610096"/>
            <a:ext cx="1092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0" y="3329876"/>
            <a:ext cx="4608195" cy="126364"/>
            <a:chOff x="0" y="3329876"/>
            <a:chExt cx="4608195" cy="126364"/>
          </a:xfrm>
        </p:grpSpPr>
        <p:sp>
          <p:nvSpPr>
            <p:cNvPr id="26" name="object 26"/>
            <p:cNvSpPr/>
            <p:nvPr/>
          </p:nvSpPr>
          <p:spPr>
            <a:xfrm>
              <a:off x="0" y="3329876"/>
              <a:ext cx="2304415" cy="126364"/>
            </a:xfrm>
            <a:custGeom>
              <a:avLst/>
              <a:gdLst/>
              <a:ahLst/>
              <a:cxnLst/>
              <a:rect l="l" t="t" r="r" b="b"/>
              <a:pathLst>
                <a:path w="2304415" h="126364">
                  <a:moveTo>
                    <a:pt x="2303995" y="0"/>
                  </a:moveTo>
                  <a:lnTo>
                    <a:pt x="0" y="0"/>
                  </a:lnTo>
                  <a:lnTo>
                    <a:pt x="0" y="126123"/>
                  </a:lnTo>
                  <a:lnTo>
                    <a:pt x="2303995" y="12612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304008" y="3329876"/>
              <a:ext cx="2304415" cy="126364"/>
            </a:xfrm>
            <a:custGeom>
              <a:avLst/>
              <a:gdLst/>
              <a:ahLst/>
              <a:cxnLst/>
              <a:rect l="l" t="t" r="r" b="b"/>
              <a:pathLst>
                <a:path w="2304415" h="126364">
                  <a:moveTo>
                    <a:pt x="2303995" y="0"/>
                  </a:moveTo>
                  <a:lnTo>
                    <a:pt x="0" y="0"/>
                  </a:lnTo>
                  <a:lnTo>
                    <a:pt x="0" y="126123"/>
                  </a:lnTo>
                  <a:lnTo>
                    <a:pt x="2303995" y="12612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xfrm>
            <a:off x="95300" y="3344944"/>
            <a:ext cx="21088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685"/>
              </a:lnSpc>
            </a:pP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Engineering </a:t>
            </a:r>
          </a:p>
          <a:p>
            <a:pPr marL="12700">
              <a:lnSpc>
                <a:spcPts val="685"/>
              </a:lnSpc>
            </a:pPr>
            <a:endParaRPr spc="-10" dirty="0"/>
          </a:p>
        </p:txBody>
      </p:sp>
      <p:sp>
        <p:nvSpPr>
          <p:cNvPr id="29" name="object 29"/>
          <p:cNvSpPr txBox="1"/>
          <p:nvPr/>
        </p:nvSpPr>
        <p:spPr>
          <a:xfrm>
            <a:off x="3121736" y="3344944"/>
            <a:ext cx="326314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85"/>
              </a:lnSpc>
            </a:pPr>
            <a:fld id="{81D60167-4931-47E6-BA6A-407CBD079E47}" type="slidenum">
              <a:rPr sz="600" b="1" spc="75" smtClean="0">
                <a:solidFill>
                  <a:srgbClr val="FFFFFF"/>
                </a:solidFill>
                <a:latin typeface="Arial"/>
                <a:cs typeface="Arial"/>
              </a:rPr>
              <a:t>2</a:t>
            </a:fld>
            <a:r>
              <a:rPr sz="600" b="1" spc="75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lang="en-US" sz="600" b="1" spc="55" dirty="0">
                <a:solidFill>
                  <a:srgbClr val="FFFFFF"/>
                </a:solidFill>
                <a:latin typeface="Arial"/>
                <a:cs typeface="Arial"/>
              </a:rPr>
              <a:t>17</a:t>
            </a:r>
            <a:endParaRPr sz="6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762" y="-2580"/>
            <a:ext cx="1159688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400" spc="-35" dirty="0">
                <a:solidFill>
                  <a:srgbClr val="FFFFFF"/>
                </a:solidFill>
                <a:latin typeface="Tahoma"/>
                <a:cs typeface="Tahoma"/>
              </a:rPr>
              <a:t>1. </a:t>
            </a: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Introduction</a:t>
            </a:r>
            <a:endParaRPr sz="1400" dirty="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329876"/>
            <a:ext cx="4608195" cy="126364"/>
            <a:chOff x="0" y="3329876"/>
            <a:chExt cx="4608195" cy="126364"/>
          </a:xfrm>
        </p:grpSpPr>
        <p:sp>
          <p:nvSpPr>
            <p:cNvPr id="4" name="object 4"/>
            <p:cNvSpPr/>
            <p:nvPr/>
          </p:nvSpPr>
          <p:spPr>
            <a:xfrm>
              <a:off x="0" y="3329876"/>
              <a:ext cx="2304415" cy="126364"/>
            </a:xfrm>
            <a:custGeom>
              <a:avLst/>
              <a:gdLst/>
              <a:ahLst/>
              <a:cxnLst/>
              <a:rect l="l" t="t" r="r" b="b"/>
              <a:pathLst>
                <a:path w="2304415" h="126364">
                  <a:moveTo>
                    <a:pt x="2303995" y="0"/>
                  </a:moveTo>
                  <a:lnTo>
                    <a:pt x="0" y="0"/>
                  </a:lnTo>
                  <a:lnTo>
                    <a:pt x="0" y="126123"/>
                  </a:lnTo>
                  <a:lnTo>
                    <a:pt x="2303995" y="12612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303995" y="3329876"/>
              <a:ext cx="2304415" cy="126364"/>
            </a:xfrm>
            <a:custGeom>
              <a:avLst/>
              <a:gdLst/>
              <a:ahLst/>
              <a:cxnLst/>
              <a:rect l="l" t="t" r="r" b="b"/>
              <a:pathLst>
                <a:path w="2304415" h="126364">
                  <a:moveTo>
                    <a:pt x="2303995" y="0"/>
                  </a:moveTo>
                  <a:lnTo>
                    <a:pt x="0" y="0"/>
                  </a:lnTo>
                  <a:lnTo>
                    <a:pt x="0" y="126123"/>
                  </a:lnTo>
                  <a:lnTo>
                    <a:pt x="2303995" y="12612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95300" y="3344944"/>
            <a:ext cx="2108835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685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Engineering </a:t>
            </a:r>
          </a:p>
          <a:p>
            <a:pPr marL="12700">
              <a:lnSpc>
                <a:spcPts val="685"/>
              </a:lnSpc>
            </a:pPr>
            <a:endParaRPr lang="en-US" spc="-10" dirty="0"/>
          </a:p>
          <a:p>
            <a:pPr marL="12700">
              <a:lnSpc>
                <a:spcPts val="685"/>
              </a:lnSpc>
            </a:pPr>
            <a:endParaRPr spc="-10" dirty="0"/>
          </a:p>
        </p:txBody>
      </p:sp>
      <p:sp>
        <p:nvSpPr>
          <p:cNvPr id="7" name="object 7"/>
          <p:cNvSpPr txBox="1"/>
          <p:nvPr/>
        </p:nvSpPr>
        <p:spPr>
          <a:xfrm>
            <a:off x="3121736" y="3344944"/>
            <a:ext cx="326314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85"/>
              </a:lnSpc>
            </a:pPr>
            <a:fld id="{81D60167-4931-47E6-BA6A-407CBD079E47}" type="slidenum">
              <a:rPr sz="600" b="1" spc="75" smtClean="0">
                <a:solidFill>
                  <a:srgbClr val="FFFFFF"/>
                </a:solidFill>
                <a:latin typeface="Arial"/>
                <a:cs typeface="Arial"/>
              </a:rPr>
              <a:t>3</a:t>
            </a:fld>
            <a:r>
              <a:rPr sz="600" b="1" spc="75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lang="en-US" sz="600" b="1" spc="55" dirty="0">
                <a:solidFill>
                  <a:srgbClr val="FFFFFF"/>
                </a:solidFill>
                <a:latin typeface="Arial"/>
                <a:cs typeface="Arial"/>
              </a:rPr>
              <a:t>17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1F72DE52-4243-A319-8FE9-A607ED1A1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70" y="-2579"/>
            <a:ext cx="4315880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Fire incidents can occur in various environments such as forests, industrial areas, residential buildings, and public places.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fire detection systems rely on hardware sensors like smoke detectors and temperature sensors, which may not perform effectively in large or outdoor environments.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systems may fail to detect fire at an early stage due to environmental conditions, leading to severe damage.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Modern systems generate large amounts of visual data (images/videos) that contain important information such as: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• Flame color and intensity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• Smoke patterns and texture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• Movement of fire and spread behavior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use of Artificial Intelligence and Deep Learning techniques helps to: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• Detect fire and smoke in real time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• Identify patterns in visual data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• Improve accuracy and speed of detection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Advanced models like YOLO (You Only Look Once) enable fast and accurate object detection, making them suitable for fire monitoring systems. 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05A27-A354-F0C1-0491-672363EEE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C840EAC-17DD-4F69-1415-C719C54FFA36}"/>
              </a:ext>
            </a:extLst>
          </p:cNvPr>
          <p:cNvSpPr txBox="1"/>
          <p:nvPr/>
        </p:nvSpPr>
        <p:spPr>
          <a:xfrm>
            <a:off x="154762" y="-2580"/>
            <a:ext cx="3171444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IN" sz="1400" spc="-2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Literature</a:t>
            </a:r>
            <a:r>
              <a:rPr lang="en-IN" sz="1400" spc="-1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spc="-4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Survey</a:t>
            </a:r>
            <a:endParaRPr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69813EC5-0B56-2D4E-A0D6-306AA09F4A00}"/>
              </a:ext>
            </a:extLst>
          </p:cNvPr>
          <p:cNvGrpSpPr/>
          <p:nvPr/>
        </p:nvGrpSpPr>
        <p:grpSpPr>
          <a:xfrm>
            <a:off x="0" y="3329876"/>
            <a:ext cx="4608195" cy="126364"/>
            <a:chOff x="0" y="3329876"/>
            <a:chExt cx="4608195" cy="126364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6C8C46D-CEAF-228F-B367-042D661E3876}"/>
                </a:ext>
              </a:extLst>
            </p:cNvPr>
            <p:cNvSpPr/>
            <p:nvPr/>
          </p:nvSpPr>
          <p:spPr>
            <a:xfrm>
              <a:off x="0" y="3329876"/>
              <a:ext cx="2304415" cy="126364"/>
            </a:xfrm>
            <a:custGeom>
              <a:avLst/>
              <a:gdLst/>
              <a:ahLst/>
              <a:cxnLst/>
              <a:rect l="l" t="t" r="r" b="b"/>
              <a:pathLst>
                <a:path w="2304415" h="126364">
                  <a:moveTo>
                    <a:pt x="2303995" y="0"/>
                  </a:moveTo>
                  <a:lnTo>
                    <a:pt x="0" y="0"/>
                  </a:lnTo>
                  <a:lnTo>
                    <a:pt x="0" y="126123"/>
                  </a:lnTo>
                  <a:lnTo>
                    <a:pt x="2303995" y="12612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FAC647A6-DC4C-6C22-98C6-24AC7488462E}"/>
                </a:ext>
              </a:extLst>
            </p:cNvPr>
            <p:cNvSpPr/>
            <p:nvPr/>
          </p:nvSpPr>
          <p:spPr>
            <a:xfrm>
              <a:off x="2303995" y="3329876"/>
              <a:ext cx="2304415" cy="126364"/>
            </a:xfrm>
            <a:custGeom>
              <a:avLst/>
              <a:gdLst/>
              <a:ahLst/>
              <a:cxnLst/>
              <a:rect l="l" t="t" r="r" b="b"/>
              <a:pathLst>
                <a:path w="2304415" h="126364">
                  <a:moveTo>
                    <a:pt x="2303995" y="0"/>
                  </a:moveTo>
                  <a:lnTo>
                    <a:pt x="0" y="0"/>
                  </a:lnTo>
                  <a:lnTo>
                    <a:pt x="0" y="126123"/>
                  </a:lnTo>
                  <a:lnTo>
                    <a:pt x="2303995" y="12612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04F9C8F4-7850-474E-148D-09F8E2ACB215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95300" y="3344944"/>
            <a:ext cx="2108835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685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Engineering </a:t>
            </a:r>
          </a:p>
          <a:p>
            <a:pPr marL="12700">
              <a:lnSpc>
                <a:spcPts val="685"/>
              </a:lnSpc>
            </a:pPr>
            <a:endParaRPr lang="en-US" spc="-10" dirty="0"/>
          </a:p>
          <a:p>
            <a:pPr marL="12700">
              <a:lnSpc>
                <a:spcPts val="685"/>
              </a:lnSpc>
            </a:pPr>
            <a:endParaRPr spc="-10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A42AC3A8-8529-C0B8-49DA-63556B752C06}"/>
              </a:ext>
            </a:extLst>
          </p:cNvPr>
          <p:cNvSpPr txBox="1"/>
          <p:nvPr/>
        </p:nvSpPr>
        <p:spPr>
          <a:xfrm>
            <a:off x="3121736" y="3322720"/>
            <a:ext cx="478714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85"/>
              </a:lnSpc>
            </a:pPr>
            <a:fld id="{81D60167-4931-47E6-BA6A-407CBD079E47}" type="slidenum">
              <a:rPr sz="600" b="1" spc="75" smtClean="0">
                <a:solidFill>
                  <a:srgbClr val="FFFFFF"/>
                </a:solidFill>
                <a:latin typeface="Arial"/>
                <a:cs typeface="Arial"/>
              </a:rPr>
              <a:t>4</a:t>
            </a:fld>
            <a:r>
              <a:rPr sz="600" b="1" spc="75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lang="en-US" sz="600" b="1" spc="55" dirty="0">
                <a:solidFill>
                  <a:srgbClr val="FFFFFF"/>
                </a:solidFill>
                <a:latin typeface="Arial"/>
                <a:cs typeface="Arial"/>
              </a:rPr>
              <a:t>21</a:t>
            </a:r>
            <a:endParaRPr sz="600" dirty="0">
              <a:latin typeface="Arial"/>
              <a:cs typeface="Arial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88E6BD7-723D-DA31-1791-FA62F2678A67}"/>
              </a:ext>
            </a:extLst>
          </p:cNvPr>
          <p:cNvGraphicFramePr>
            <a:graphicFrameLocks noGrp="1"/>
          </p:cNvGraphicFramePr>
          <p:nvPr/>
        </p:nvGraphicFramePr>
        <p:xfrm>
          <a:off x="171450" y="434975"/>
          <a:ext cx="4191000" cy="23728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604">
                  <a:extLst>
                    <a:ext uri="{9D8B030D-6E8A-4147-A177-3AD203B41FA5}">
                      <a16:colId xmlns:a16="http://schemas.microsoft.com/office/drawing/2014/main" val="3225780949"/>
                    </a:ext>
                  </a:extLst>
                </a:gridCol>
                <a:gridCol w="1196196">
                  <a:extLst>
                    <a:ext uri="{9D8B030D-6E8A-4147-A177-3AD203B41FA5}">
                      <a16:colId xmlns:a16="http://schemas.microsoft.com/office/drawing/2014/main" val="348554678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55294054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3101513232"/>
                    </a:ext>
                  </a:extLst>
                </a:gridCol>
              </a:tblGrid>
              <a:tr h="422095"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GB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Paper</a:t>
                      </a:r>
                      <a:endParaRPr lang="en-GB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GB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GB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9345089"/>
                  </a:ext>
                </a:extLst>
              </a:tr>
              <a:tr h="416105">
                <a:tc>
                  <a:txBody>
                    <a:bodyPr/>
                    <a:lstStyle/>
                    <a:p>
                      <a:r>
                        <a:rPr lang="en-IN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2016</a:t>
                      </a:r>
                      <a:endParaRPr lang="en-GB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Convolutional  Neural Networks for Video Fire Detection [5]</a:t>
                      </a:r>
                      <a:endParaRPr lang="en-GB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Standard CNN Classifiers</a:t>
                      </a:r>
                      <a:endParaRPr lang="en-GB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Evaluates the whole image, cannot draw bounding boxes or localize the fire's exact position.</a:t>
                      </a:r>
                      <a:endParaRPr lang="en-GB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774834"/>
                  </a:ext>
                </a:extLst>
              </a:tr>
              <a:tr h="343928">
                <a:tc>
                  <a:txBody>
                    <a:bodyPr/>
                    <a:lstStyle/>
                    <a:p>
                      <a:r>
                        <a:rPr lang="en-IN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2018</a:t>
                      </a:r>
                      <a:endParaRPr lang="en-GB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Digital Image Processing [9]</a:t>
                      </a:r>
                      <a:endParaRPr lang="en-GB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HSV </a:t>
                      </a:r>
                      <a:r>
                        <a:rPr lang="en-IN" sz="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Color</a:t>
                      </a:r>
                      <a:r>
                        <a:rPr lang="en-IN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Space Analysis</a:t>
                      </a:r>
                      <a:endParaRPr lang="en-GB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Relies on manual thresholds, highly susceptible to environmental lighting and noise.</a:t>
                      </a:r>
                      <a:endParaRPr lang="en-GB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4805241"/>
                  </a:ext>
                </a:extLst>
              </a:tr>
              <a:tr h="413144">
                <a:tc>
                  <a:txBody>
                    <a:bodyPr/>
                    <a:lstStyle/>
                    <a:p>
                      <a:r>
                        <a:rPr lang="en-IN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2019</a:t>
                      </a:r>
                      <a:endParaRPr lang="en-GB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Fire Detection using Faster R-CNN and Deep Learning [6]</a:t>
                      </a:r>
                      <a:endParaRPr lang="en-GB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Region-Based CNN (Faster R-CNN)</a:t>
                      </a:r>
                      <a:endParaRPr lang="en-GB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accuracy but computationally heavy, too slow for true real-time video processing.</a:t>
                      </a:r>
                      <a:endParaRPr lang="en-GB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2854519"/>
                  </a:ext>
                </a:extLst>
              </a:tr>
              <a:tr h="413144">
                <a:tc>
                  <a:txBody>
                    <a:bodyPr/>
                    <a:lstStyle/>
                    <a:p>
                      <a:r>
                        <a:rPr lang="en-IN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GB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YOLOv8: Learning What You Want to Learn [4]</a:t>
                      </a:r>
                      <a:endParaRPr lang="en-GB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Advanced One-Stage Detectors</a:t>
                      </a:r>
                      <a:endParaRPr lang="en-GB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Excellent speed and localization, but output is strictly binary (identifies "Fire" but not the type).</a:t>
                      </a:r>
                      <a:endParaRPr lang="en-GB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3264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4410959"/>
      </p:ext>
    </p:extLst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8CC4820-659F-B5AD-88E0-3C6BE99AC9D4}"/>
              </a:ext>
            </a:extLst>
          </p:cNvPr>
          <p:cNvSpPr txBox="1"/>
          <p:nvPr/>
        </p:nvSpPr>
        <p:spPr>
          <a:xfrm>
            <a:off x="154762" y="-2580"/>
            <a:ext cx="3171444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IN" sz="1400" spc="-2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Research Gap</a:t>
            </a:r>
            <a:endParaRPr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1792AC50-B39A-4E64-02B1-C60BE50B1624}"/>
              </a:ext>
            </a:extLst>
          </p:cNvPr>
          <p:cNvGrpSpPr/>
          <p:nvPr/>
        </p:nvGrpSpPr>
        <p:grpSpPr>
          <a:xfrm>
            <a:off x="0" y="3340051"/>
            <a:ext cx="4608195" cy="126364"/>
            <a:chOff x="0" y="3329876"/>
            <a:chExt cx="4608195" cy="126364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9046347-DEE1-2BCA-46A7-2C71D47925EC}"/>
                </a:ext>
              </a:extLst>
            </p:cNvPr>
            <p:cNvSpPr/>
            <p:nvPr/>
          </p:nvSpPr>
          <p:spPr>
            <a:xfrm>
              <a:off x="0" y="3329876"/>
              <a:ext cx="2304415" cy="126364"/>
            </a:xfrm>
            <a:custGeom>
              <a:avLst/>
              <a:gdLst/>
              <a:ahLst/>
              <a:cxnLst/>
              <a:rect l="l" t="t" r="r" b="b"/>
              <a:pathLst>
                <a:path w="2304415" h="126364">
                  <a:moveTo>
                    <a:pt x="2303995" y="0"/>
                  </a:moveTo>
                  <a:lnTo>
                    <a:pt x="0" y="0"/>
                  </a:lnTo>
                  <a:lnTo>
                    <a:pt x="0" y="126123"/>
                  </a:lnTo>
                  <a:lnTo>
                    <a:pt x="2303995" y="12612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8985255-C169-B27F-415E-8812359B32B0}"/>
                </a:ext>
              </a:extLst>
            </p:cNvPr>
            <p:cNvSpPr/>
            <p:nvPr/>
          </p:nvSpPr>
          <p:spPr>
            <a:xfrm>
              <a:off x="2303995" y="3329876"/>
              <a:ext cx="2304415" cy="126364"/>
            </a:xfrm>
            <a:custGeom>
              <a:avLst/>
              <a:gdLst/>
              <a:ahLst/>
              <a:cxnLst/>
              <a:rect l="l" t="t" r="r" b="b"/>
              <a:pathLst>
                <a:path w="2304415" h="126364">
                  <a:moveTo>
                    <a:pt x="2303995" y="0"/>
                  </a:moveTo>
                  <a:lnTo>
                    <a:pt x="0" y="0"/>
                  </a:lnTo>
                  <a:lnTo>
                    <a:pt x="0" y="126123"/>
                  </a:lnTo>
                  <a:lnTo>
                    <a:pt x="2303995" y="12612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F92328D2-2BDF-3B4F-D9A6-FBD400E7B22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95300" y="3344944"/>
            <a:ext cx="2108835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685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Engineering </a:t>
            </a:r>
          </a:p>
          <a:p>
            <a:pPr marL="12700">
              <a:lnSpc>
                <a:spcPts val="685"/>
              </a:lnSpc>
            </a:pPr>
            <a:endParaRPr lang="en-US" spc="-10" dirty="0"/>
          </a:p>
          <a:p>
            <a:pPr marL="12700">
              <a:lnSpc>
                <a:spcPts val="685"/>
              </a:lnSpc>
            </a:pPr>
            <a:endParaRPr spc="-10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9D71F6A-D3FB-1350-CE93-B4C455C0E174}"/>
              </a:ext>
            </a:extLst>
          </p:cNvPr>
          <p:cNvSpPr txBox="1"/>
          <p:nvPr/>
        </p:nvSpPr>
        <p:spPr>
          <a:xfrm>
            <a:off x="3121736" y="3322720"/>
            <a:ext cx="478714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85"/>
              </a:lnSpc>
            </a:pPr>
            <a:fld id="{81D60167-4931-47E6-BA6A-407CBD079E47}" type="slidenum">
              <a:rPr sz="600" b="1" spc="75" smtClean="0">
                <a:solidFill>
                  <a:srgbClr val="FFFFFF"/>
                </a:solidFill>
                <a:latin typeface="Arial"/>
                <a:cs typeface="Arial"/>
              </a:rPr>
              <a:t>5</a:t>
            </a:fld>
            <a:r>
              <a:rPr sz="600" b="1" spc="75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lang="en-US" sz="600" b="1" spc="55" dirty="0">
                <a:solidFill>
                  <a:srgbClr val="FFFFFF"/>
                </a:solidFill>
                <a:latin typeface="Arial"/>
                <a:cs typeface="Arial"/>
              </a:rPr>
              <a:t>21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B1BF73-BDAF-6BA5-24ED-3531DB938723}"/>
              </a:ext>
            </a:extLst>
          </p:cNvPr>
          <p:cNvSpPr txBox="1"/>
          <p:nvPr/>
        </p:nvSpPr>
        <p:spPr>
          <a:xfrm>
            <a:off x="103061" y="511175"/>
            <a:ext cx="426598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only detect fire presence, not the type of fire Class A, Class B.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models provide only binary output (fire / no fire) without detailed information.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fire classification for practical safety applications.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use of advanced models like YOLOv8 for fire type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480378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761F8-6B92-F27D-BB3D-D4D730552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EDE4597-DC38-7002-D6CC-414772074882}"/>
              </a:ext>
            </a:extLst>
          </p:cNvPr>
          <p:cNvSpPr txBox="1"/>
          <p:nvPr/>
        </p:nvSpPr>
        <p:spPr>
          <a:xfrm>
            <a:off x="154762" y="-2580"/>
            <a:ext cx="3140888" cy="46102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IN" sz="1400" spc="-2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IN" sz="1400" spc="-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endParaRPr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8A33C46-74C3-4304-DF2D-61A603993A2E}"/>
              </a:ext>
            </a:extLst>
          </p:cNvPr>
          <p:cNvGrpSpPr/>
          <p:nvPr/>
        </p:nvGrpSpPr>
        <p:grpSpPr>
          <a:xfrm>
            <a:off x="0" y="3329876"/>
            <a:ext cx="4608195" cy="126364"/>
            <a:chOff x="0" y="3329876"/>
            <a:chExt cx="4608195" cy="126364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ECDE687-0573-6609-524A-1573A1B10797}"/>
                </a:ext>
              </a:extLst>
            </p:cNvPr>
            <p:cNvSpPr/>
            <p:nvPr/>
          </p:nvSpPr>
          <p:spPr>
            <a:xfrm>
              <a:off x="0" y="3329876"/>
              <a:ext cx="2304415" cy="126364"/>
            </a:xfrm>
            <a:custGeom>
              <a:avLst/>
              <a:gdLst/>
              <a:ahLst/>
              <a:cxnLst/>
              <a:rect l="l" t="t" r="r" b="b"/>
              <a:pathLst>
                <a:path w="2304415" h="126364">
                  <a:moveTo>
                    <a:pt x="2303995" y="0"/>
                  </a:moveTo>
                  <a:lnTo>
                    <a:pt x="0" y="0"/>
                  </a:lnTo>
                  <a:lnTo>
                    <a:pt x="0" y="126123"/>
                  </a:lnTo>
                  <a:lnTo>
                    <a:pt x="2303995" y="12612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AF6C2C9-3C99-3786-356B-96F6EFA7EF03}"/>
                </a:ext>
              </a:extLst>
            </p:cNvPr>
            <p:cNvSpPr/>
            <p:nvPr/>
          </p:nvSpPr>
          <p:spPr>
            <a:xfrm>
              <a:off x="2303995" y="3329876"/>
              <a:ext cx="2304415" cy="126364"/>
            </a:xfrm>
            <a:custGeom>
              <a:avLst/>
              <a:gdLst/>
              <a:ahLst/>
              <a:cxnLst/>
              <a:rect l="l" t="t" r="r" b="b"/>
              <a:pathLst>
                <a:path w="2304415" h="126364">
                  <a:moveTo>
                    <a:pt x="2303995" y="0"/>
                  </a:moveTo>
                  <a:lnTo>
                    <a:pt x="0" y="0"/>
                  </a:lnTo>
                  <a:lnTo>
                    <a:pt x="0" y="126123"/>
                  </a:lnTo>
                  <a:lnTo>
                    <a:pt x="2303995" y="12612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43B378D6-7DE5-8B68-3672-0D24ABF37D29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95300" y="3344944"/>
            <a:ext cx="2108835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685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Engineering </a:t>
            </a:r>
          </a:p>
          <a:p>
            <a:pPr marL="12700">
              <a:lnSpc>
                <a:spcPts val="685"/>
              </a:lnSpc>
            </a:pPr>
            <a:endParaRPr lang="en-US" spc="-10" dirty="0"/>
          </a:p>
          <a:p>
            <a:pPr marL="12700">
              <a:lnSpc>
                <a:spcPts val="685"/>
              </a:lnSpc>
            </a:pPr>
            <a:endParaRPr spc="-10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09931FF-291A-72EA-A705-ADA1F2AEEE1C}"/>
              </a:ext>
            </a:extLst>
          </p:cNvPr>
          <p:cNvSpPr txBox="1"/>
          <p:nvPr/>
        </p:nvSpPr>
        <p:spPr>
          <a:xfrm>
            <a:off x="3121736" y="3322720"/>
            <a:ext cx="478714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85"/>
              </a:lnSpc>
            </a:pPr>
            <a:fld id="{81D60167-4931-47E6-BA6A-407CBD079E47}" type="slidenum">
              <a:rPr sz="600" b="1" spc="75" smtClean="0">
                <a:solidFill>
                  <a:srgbClr val="FFFFFF"/>
                </a:solidFill>
                <a:latin typeface="Arial"/>
                <a:cs typeface="Arial"/>
              </a:rPr>
              <a:t>6</a:t>
            </a:fld>
            <a:r>
              <a:rPr sz="600" b="1" spc="75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lang="en-US" sz="600" b="1" spc="55" dirty="0">
                <a:solidFill>
                  <a:srgbClr val="FFFFFF"/>
                </a:solidFill>
                <a:latin typeface="Arial"/>
                <a:cs typeface="Arial"/>
              </a:rPr>
              <a:t>21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90DBC8D-A0BC-C7EB-2C0E-C68757FF3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496" y="586695"/>
            <a:ext cx="4254924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object detection techniques to accurately draw bounding boxes and localize anomalies within a frame.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evaluate and train high-speed baseline YOLO models (v8-v11) to achieve true real-time processing speeds.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curate and precisely annotate a novel, domain-specific dataset uniquely categorized into Class A and Class B fire hazards.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deep learning classification module (YOLOv8) capable of intelligently categorizing the specific hazard type. </a:t>
            </a:r>
            <a:endParaRPr kumimoji="0" lang="en-US" altLang="en-US" sz="10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1595499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0029-AC9B-77DF-E36B-B01362205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CA2B770-AFCB-0523-B4EF-48102E83D64C}"/>
              </a:ext>
            </a:extLst>
          </p:cNvPr>
          <p:cNvSpPr txBox="1"/>
          <p:nvPr/>
        </p:nvSpPr>
        <p:spPr>
          <a:xfrm>
            <a:off x="154762" y="-2580"/>
            <a:ext cx="1159688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IN" sz="1400" spc="-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Methodology</a:t>
            </a:r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EBCFD90B-2768-BF43-3549-EA0CA650F502}"/>
              </a:ext>
            </a:extLst>
          </p:cNvPr>
          <p:cNvGrpSpPr/>
          <p:nvPr/>
        </p:nvGrpSpPr>
        <p:grpSpPr>
          <a:xfrm>
            <a:off x="0" y="3329876"/>
            <a:ext cx="4608195" cy="126364"/>
            <a:chOff x="0" y="3329876"/>
            <a:chExt cx="4608195" cy="126364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4304B6F-6529-0158-564F-C32962BED0A3}"/>
                </a:ext>
              </a:extLst>
            </p:cNvPr>
            <p:cNvSpPr/>
            <p:nvPr/>
          </p:nvSpPr>
          <p:spPr>
            <a:xfrm>
              <a:off x="0" y="3329876"/>
              <a:ext cx="2304415" cy="126364"/>
            </a:xfrm>
            <a:custGeom>
              <a:avLst/>
              <a:gdLst/>
              <a:ahLst/>
              <a:cxnLst/>
              <a:rect l="l" t="t" r="r" b="b"/>
              <a:pathLst>
                <a:path w="2304415" h="126364">
                  <a:moveTo>
                    <a:pt x="2303995" y="0"/>
                  </a:moveTo>
                  <a:lnTo>
                    <a:pt x="0" y="0"/>
                  </a:lnTo>
                  <a:lnTo>
                    <a:pt x="0" y="126123"/>
                  </a:lnTo>
                  <a:lnTo>
                    <a:pt x="2303995" y="12612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2466C32-5EB8-3F51-399C-CA2DD523B240}"/>
                </a:ext>
              </a:extLst>
            </p:cNvPr>
            <p:cNvSpPr/>
            <p:nvPr/>
          </p:nvSpPr>
          <p:spPr>
            <a:xfrm>
              <a:off x="2303995" y="3329876"/>
              <a:ext cx="2304415" cy="126364"/>
            </a:xfrm>
            <a:custGeom>
              <a:avLst/>
              <a:gdLst/>
              <a:ahLst/>
              <a:cxnLst/>
              <a:rect l="l" t="t" r="r" b="b"/>
              <a:pathLst>
                <a:path w="2304415" h="126364">
                  <a:moveTo>
                    <a:pt x="2303995" y="0"/>
                  </a:moveTo>
                  <a:lnTo>
                    <a:pt x="0" y="0"/>
                  </a:lnTo>
                  <a:lnTo>
                    <a:pt x="0" y="126123"/>
                  </a:lnTo>
                  <a:lnTo>
                    <a:pt x="2303995" y="12612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67ED4A8A-13BB-57AA-64EB-2BAC2F4FB7B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95300" y="3344944"/>
            <a:ext cx="2108835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685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Engineering </a:t>
            </a:r>
          </a:p>
          <a:p>
            <a:pPr marL="12700">
              <a:lnSpc>
                <a:spcPts val="685"/>
              </a:lnSpc>
            </a:pPr>
            <a:endParaRPr lang="en-US" spc="-10" dirty="0"/>
          </a:p>
          <a:p>
            <a:pPr marL="12700">
              <a:lnSpc>
                <a:spcPts val="685"/>
              </a:lnSpc>
            </a:pPr>
            <a:endParaRPr lang="en-US" spc="-10" dirty="0"/>
          </a:p>
          <a:p>
            <a:pPr marL="12700">
              <a:lnSpc>
                <a:spcPts val="685"/>
              </a:lnSpc>
            </a:pPr>
            <a:endParaRPr spc="-10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35711F9-0AB4-D173-C5AE-9A123779DE77}"/>
              </a:ext>
            </a:extLst>
          </p:cNvPr>
          <p:cNvSpPr txBox="1"/>
          <p:nvPr/>
        </p:nvSpPr>
        <p:spPr>
          <a:xfrm>
            <a:off x="3121736" y="3329876"/>
            <a:ext cx="326314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85"/>
              </a:lnSpc>
            </a:pPr>
            <a:fld id="{81D60167-4931-47E6-BA6A-407CBD079E47}" type="slidenum">
              <a:rPr sz="600" b="1" spc="75" smtClean="0">
                <a:solidFill>
                  <a:srgbClr val="FFFFFF"/>
                </a:solidFill>
                <a:latin typeface="Arial"/>
                <a:cs typeface="Arial"/>
              </a:rPr>
              <a:t>7</a:t>
            </a:fld>
            <a:r>
              <a:rPr sz="600" b="1" spc="75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lang="en-US" sz="600" b="1" spc="55" dirty="0">
                <a:solidFill>
                  <a:srgbClr val="FFFFFF"/>
                </a:solidFill>
                <a:latin typeface="Arial"/>
                <a:cs typeface="Arial"/>
              </a:rPr>
              <a:t>17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B39FF2-0C7B-2827-D4CF-942835F08DAB}"/>
              </a:ext>
            </a:extLst>
          </p:cNvPr>
          <p:cNvSpPr txBox="1"/>
          <p:nvPr/>
        </p:nvSpPr>
        <p:spPr>
          <a:xfrm>
            <a:off x="66836" y="514657"/>
            <a:ext cx="4448013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Collection &amp; Understanding:</a:t>
            </a:r>
            <a:b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analyze fire and smoke images from different environments such as forests, buildings, and industries.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&amp; Annotation:</a:t>
            </a:r>
            <a:b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data, resize images, and annotate fire/smoke regions; split dataset into training, validation, and testing sets.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&amp; Development:</a:t>
            </a:r>
            <a:b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deep learning models (YOLOv8, YOLOv9, YOLOv10, YOLOv11) for fire and smoke detection.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Evaluation:</a:t>
            </a:r>
            <a:b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performance using precision, recall, and mean average precision (</a:t>
            </a:r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 Type Classification:</a:t>
            </a:r>
            <a:b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detected fire into Class A and Class B using a classification model and HSV-based feature analysis. </a:t>
            </a:r>
          </a:p>
          <a:p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809409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B66A2-A1D6-7387-D334-4939E2F85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C4E64D4-C296-C1F3-212E-6083AC3A38AE}"/>
              </a:ext>
            </a:extLst>
          </p:cNvPr>
          <p:cNvSpPr txBox="1"/>
          <p:nvPr/>
        </p:nvSpPr>
        <p:spPr>
          <a:xfrm>
            <a:off x="154761" y="-2580"/>
            <a:ext cx="3598089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IN" sz="1400" spc="-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4.1 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Collection &amp; Data Preprocessing</a:t>
            </a: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82D30BA0-368F-D37B-4743-7C8DCA040FF7}"/>
              </a:ext>
            </a:extLst>
          </p:cNvPr>
          <p:cNvGrpSpPr/>
          <p:nvPr/>
        </p:nvGrpSpPr>
        <p:grpSpPr>
          <a:xfrm>
            <a:off x="0" y="3329876"/>
            <a:ext cx="4608195" cy="126364"/>
            <a:chOff x="0" y="3329876"/>
            <a:chExt cx="4608195" cy="126364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51D7DD4-4D9E-B08F-14EB-9D504CA93A77}"/>
                </a:ext>
              </a:extLst>
            </p:cNvPr>
            <p:cNvSpPr/>
            <p:nvPr/>
          </p:nvSpPr>
          <p:spPr>
            <a:xfrm>
              <a:off x="0" y="3329876"/>
              <a:ext cx="2304415" cy="126364"/>
            </a:xfrm>
            <a:custGeom>
              <a:avLst/>
              <a:gdLst/>
              <a:ahLst/>
              <a:cxnLst/>
              <a:rect l="l" t="t" r="r" b="b"/>
              <a:pathLst>
                <a:path w="2304415" h="126364">
                  <a:moveTo>
                    <a:pt x="2303995" y="0"/>
                  </a:moveTo>
                  <a:lnTo>
                    <a:pt x="0" y="0"/>
                  </a:lnTo>
                  <a:lnTo>
                    <a:pt x="0" y="126123"/>
                  </a:lnTo>
                  <a:lnTo>
                    <a:pt x="2303995" y="12612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CD7B7D2-7EF0-7D19-3617-3990DB64ACEC}"/>
                </a:ext>
              </a:extLst>
            </p:cNvPr>
            <p:cNvSpPr/>
            <p:nvPr/>
          </p:nvSpPr>
          <p:spPr>
            <a:xfrm>
              <a:off x="2303995" y="3329876"/>
              <a:ext cx="2304415" cy="126364"/>
            </a:xfrm>
            <a:custGeom>
              <a:avLst/>
              <a:gdLst/>
              <a:ahLst/>
              <a:cxnLst/>
              <a:rect l="l" t="t" r="r" b="b"/>
              <a:pathLst>
                <a:path w="2304415" h="126364">
                  <a:moveTo>
                    <a:pt x="2303995" y="0"/>
                  </a:moveTo>
                  <a:lnTo>
                    <a:pt x="0" y="0"/>
                  </a:lnTo>
                  <a:lnTo>
                    <a:pt x="0" y="126123"/>
                  </a:lnTo>
                  <a:lnTo>
                    <a:pt x="2303995" y="12612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19217150-F22B-4A00-8793-104083B100B0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95300" y="3344944"/>
            <a:ext cx="2108835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685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Engineering </a:t>
            </a:r>
          </a:p>
          <a:p>
            <a:pPr marL="12700">
              <a:lnSpc>
                <a:spcPts val="685"/>
              </a:lnSpc>
            </a:pPr>
            <a:endParaRPr lang="en-US" spc="-10" dirty="0"/>
          </a:p>
          <a:p>
            <a:pPr marL="12700">
              <a:lnSpc>
                <a:spcPts val="685"/>
              </a:lnSpc>
            </a:pPr>
            <a:endParaRPr spc="-10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EC92213-33C3-560A-DFD8-3FF5CED9CA4C}"/>
              </a:ext>
            </a:extLst>
          </p:cNvPr>
          <p:cNvSpPr txBox="1"/>
          <p:nvPr/>
        </p:nvSpPr>
        <p:spPr>
          <a:xfrm>
            <a:off x="3121736" y="3344944"/>
            <a:ext cx="326314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85"/>
              </a:lnSpc>
            </a:pPr>
            <a:fld id="{81D60167-4931-47E6-BA6A-407CBD079E47}" type="slidenum">
              <a:rPr sz="600" b="1" spc="75" smtClean="0">
                <a:solidFill>
                  <a:srgbClr val="FFFFFF"/>
                </a:solidFill>
                <a:latin typeface="Arial"/>
                <a:cs typeface="Arial"/>
              </a:rPr>
              <a:t>8</a:t>
            </a:fld>
            <a:r>
              <a:rPr sz="600" b="1" spc="75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lang="en-US" sz="600" b="1" spc="55" dirty="0">
                <a:solidFill>
                  <a:srgbClr val="FFFFFF"/>
                </a:solidFill>
                <a:latin typeface="Arial"/>
                <a:cs typeface="Arial"/>
              </a:rPr>
              <a:t>17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DAB27E-0CEB-51A2-86B1-8D95F625CB70}"/>
              </a:ext>
            </a:extLst>
          </p:cNvPr>
          <p:cNvSpPr txBox="1"/>
          <p:nvPr/>
        </p:nvSpPr>
        <p:spPr>
          <a:xfrm>
            <a:off x="142151" y="391766"/>
            <a:ext cx="43600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consists of fire and smoke images collected from publicly available sources.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includes images from different real-world scenarios such as forests, buildings, and industrial environments.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steps such as removing corrupted images, organizing data, and resizing images (e.g., 640×640) were performed. 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E9B4E82-4F46-23E6-3136-B132DD2A78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077689"/>
              </p:ext>
            </p:extLst>
          </p:nvPr>
        </p:nvGraphicFramePr>
        <p:xfrm>
          <a:off x="704850" y="1558925"/>
          <a:ext cx="3470910" cy="141795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470910">
                  <a:extLst>
                    <a:ext uri="{9D8B030D-6E8A-4147-A177-3AD203B41FA5}">
                      <a16:colId xmlns:a16="http://schemas.microsoft.com/office/drawing/2014/main" val="374265848"/>
                    </a:ext>
                  </a:extLst>
                </a:gridCol>
              </a:tblGrid>
              <a:tr h="141795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8927843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D249FE9-F1EB-2788-48E7-D6C5A08346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086590"/>
              </p:ext>
            </p:extLst>
          </p:nvPr>
        </p:nvGraphicFramePr>
        <p:xfrm>
          <a:off x="510540" y="1397335"/>
          <a:ext cx="3623310" cy="1688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7770">
                  <a:extLst>
                    <a:ext uri="{9D8B030D-6E8A-4147-A177-3AD203B41FA5}">
                      <a16:colId xmlns:a16="http://schemas.microsoft.com/office/drawing/2014/main" val="1198255164"/>
                    </a:ext>
                  </a:extLst>
                </a:gridCol>
                <a:gridCol w="1207770">
                  <a:extLst>
                    <a:ext uri="{9D8B030D-6E8A-4147-A177-3AD203B41FA5}">
                      <a16:colId xmlns:a16="http://schemas.microsoft.com/office/drawing/2014/main" val="3817406595"/>
                    </a:ext>
                  </a:extLst>
                </a:gridCol>
                <a:gridCol w="1207770">
                  <a:extLst>
                    <a:ext uri="{9D8B030D-6E8A-4147-A177-3AD203B41FA5}">
                      <a16:colId xmlns:a16="http://schemas.microsoft.com/office/drawing/2014/main" val="3825258238"/>
                    </a:ext>
                  </a:extLst>
                </a:gridCol>
              </a:tblGrid>
              <a:tr h="345653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Feature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Type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8674476"/>
                  </a:ext>
                </a:extLst>
              </a:tr>
              <a:tr h="322970">
                <a:tc>
                  <a:txBody>
                    <a:bodyPr/>
                    <a:lstStyle/>
                    <a:p>
                      <a:r>
                        <a:rPr lang="en-IN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label (Fire / Smoke)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59321"/>
                  </a:ext>
                </a:extLst>
              </a:tr>
              <a:tr h="308129">
                <a:tc>
                  <a:txBody>
                    <a:bodyPr/>
                    <a:lstStyle/>
                    <a:p>
                      <a:r>
                        <a:rPr lang="en-IN" sz="7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fire_type</a:t>
                      </a:r>
                      <a:endParaRPr lang="en-IN" sz="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 of fire (Class A / Class B)</a:t>
                      </a:r>
                      <a:endParaRPr lang="en-IN" sz="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979253"/>
                  </a:ext>
                </a:extLst>
              </a:tr>
              <a:tr h="308129">
                <a:tc>
                  <a:txBody>
                    <a:bodyPr/>
                    <a:lstStyle/>
                    <a:p>
                      <a:r>
                        <a:rPr lang="en-IN" sz="7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bounding_box</a:t>
                      </a:r>
                      <a:endParaRPr lang="en-IN" sz="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Coordinates of detected fire/smoke region</a:t>
                      </a:r>
                      <a:endParaRPr lang="en-IN" sz="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027199"/>
                  </a:ext>
                </a:extLst>
              </a:tr>
              <a:tr h="391519">
                <a:tc>
                  <a:txBody>
                    <a:bodyPr/>
                    <a:lstStyle/>
                    <a:p>
                      <a:r>
                        <a:rPr lang="en-IN" sz="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image_size</a:t>
                      </a:r>
                      <a:endParaRPr lang="en-IN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Resolution of image (e.g., 640×640)</a:t>
                      </a:r>
                      <a:endParaRPr lang="en-IN" sz="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4500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9335382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CBC08-C45B-25D9-1286-9FB3941FE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F2BF604-66C1-B73A-735C-DBAB032B766F}"/>
              </a:ext>
            </a:extLst>
          </p:cNvPr>
          <p:cNvSpPr txBox="1"/>
          <p:nvPr/>
        </p:nvSpPr>
        <p:spPr>
          <a:xfrm>
            <a:off x="154762" y="-2580"/>
            <a:ext cx="4436288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400" spc="-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1400" spc="-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.2  Image Annotation &amp; Data Splitting</a:t>
            </a:r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A20D764D-155A-DD3F-2B7A-609AB963B1D6}"/>
              </a:ext>
            </a:extLst>
          </p:cNvPr>
          <p:cNvGrpSpPr/>
          <p:nvPr/>
        </p:nvGrpSpPr>
        <p:grpSpPr>
          <a:xfrm>
            <a:off x="0" y="3329876"/>
            <a:ext cx="4608195" cy="126364"/>
            <a:chOff x="0" y="3329876"/>
            <a:chExt cx="4608195" cy="126364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B8C9FF7-0658-BE2D-AB9E-99ACE3B44BC8}"/>
                </a:ext>
              </a:extLst>
            </p:cNvPr>
            <p:cNvSpPr/>
            <p:nvPr/>
          </p:nvSpPr>
          <p:spPr>
            <a:xfrm>
              <a:off x="0" y="3329876"/>
              <a:ext cx="2304415" cy="126364"/>
            </a:xfrm>
            <a:custGeom>
              <a:avLst/>
              <a:gdLst/>
              <a:ahLst/>
              <a:cxnLst/>
              <a:rect l="l" t="t" r="r" b="b"/>
              <a:pathLst>
                <a:path w="2304415" h="126364">
                  <a:moveTo>
                    <a:pt x="2303995" y="0"/>
                  </a:moveTo>
                  <a:lnTo>
                    <a:pt x="0" y="0"/>
                  </a:lnTo>
                  <a:lnTo>
                    <a:pt x="0" y="126123"/>
                  </a:lnTo>
                  <a:lnTo>
                    <a:pt x="2303995" y="12612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5AF8BAA-29FF-332F-6C73-B4656CE67A6C}"/>
                </a:ext>
              </a:extLst>
            </p:cNvPr>
            <p:cNvSpPr/>
            <p:nvPr/>
          </p:nvSpPr>
          <p:spPr>
            <a:xfrm>
              <a:off x="2303995" y="3329876"/>
              <a:ext cx="2304415" cy="126364"/>
            </a:xfrm>
            <a:custGeom>
              <a:avLst/>
              <a:gdLst/>
              <a:ahLst/>
              <a:cxnLst/>
              <a:rect l="l" t="t" r="r" b="b"/>
              <a:pathLst>
                <a:path w="2304415" h="126364">
                  <a:moveTo>
                    <a:pt x="2303995" y="0"/>
                  </a:moveTo>
                  <a:lnTo>
                    <a:pt x="0" y="0"/>
                  </a:lnTo>
                  <a:lnTo>
                    <a:pt x="0" y="126123"/>
                  </a:lnTo>
                  <a:lnTo>
                    <a:pt x="2303995" y="12612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DC71CBD2-C10C-9715-7115-CB97A92AD7A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95300" y="3344944"/>
            <a:ext cx="2108835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685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Engineering </a:t>
            </a:r>
          </a:p>
          <a:p>
            <a:pPr marL="12700">
              <a:lnSpc>
                <a:spcPts val="685"/>
              </a:lnSpc>
            </a:pPr>
            <a:endParaRPr lang="en-US" spc="-10" dirty="0"/>
          </a:p>
          <a:p>
            <a:pPr marL="12700">
              <a:lnSpc>
                <a:spcPts val="685"/>
              </a:lnSpc>
            </a:pPr>
            <a:endParaRPr spc="-10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E6FCA0B-799E-3B23-B32C-CD3BC3A5A987}"/>
              </a:ext>
            </a:extLst>
          </p:cNvPr>
          <p:cNvSpPr txBox="1"/>
          <p:nvPr/>
        </p:nvSpPr>
        <p:spPr>
          <a:xfrm>
            <a:off x="3197936" y="3322720"/>
            <a:ext cx="326314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85"/>
              </a:lnSpc>
            </a:pPr>
            <a:fld id="{81D60167-4931-47E6-BA6A-407CBD079E47}" type="slidenum">
              <a:rPr sz="600" b="1" spc="75" smtClean="0">
                <a:solidFill>
                  <a:srgbClr val="FFFFFF"/>
                </a:solidFill>
                <a:latin typeface="Arial"/>
                <a:cs typeface="Arial"/>
              </a:rPr>
              <a:t>9</a:t>
            </a:fld>
            <a:r>
              <a:rPr sz="600" b="1" spc="75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lang="en-US" sz="600" b="1" spc="55" dirty="0">
                <a:solidFill>
                  <a:srgbClr val="FFFFFF"/>
                </a:solidFill>
                <a:latin typeface="Arial"/>
                <a:cs typeface="Arial"/>
              </a:rPr>
              <a:t>17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289D51-31E2-2AD3-362D-0F7029B60E7E}"/>
              </a:ext>
            </a:extLst>
          </p:cNvPr>
          <p:cNvSpPr txBox="1"/>
          <p:nvPr/>
        </p:nvSpPr>
        <p:spPr>
          <a:xfrm>
            <a:off x="154762" y="511175"/>
            <a:ext cx="43600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Annotated images by drawing bounding boxes around fire and smoke regions.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Labeled each object into two categories: Fire and Smoke.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dataset splitting into training, validation, and testing sets.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Ensured proper data distribution to improve model generalization on unseen data.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F98A99F-EC7C-B1BF-D81D-90732F8457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0" y="1577975"/>
            <a:ext cx="1535072" cy="10818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B02FF30-B4EE-CF26-C628-5CA743902F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465" y="1577975"/>
            <a:ext cx="1809750" cy="1081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389134"/>
      </p:ext>
    </p:extLst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09467-5D25-67D1-CCAD-F79449179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90C573C-16AA-B5E6-D780-D4CFE1DF294E}"/>
              </a:ext>
            </a:extLst>
          </p:cNvPr>
          <p:cNvSpPr txBox="1"/>
          <p:nvPr/>
        </p:nvSpPr>
        <p:spPr>
          <a:xfrm>
            <a:off x="154762" y="-2580"/>
            <a:ext cx="3217088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IN" sz="1400" spc="-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4.3 Model Training and Development</a:t>
            </a:r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E7DB6DA2-19E2-FA33-1FB3-2AC8B4D7A0B4}"/>
              </a:ext>
            </a:extLst>
          </p:cNvPr>
          <p:cNvGrpSpPr/>
          <p:nvPr/>
        </p:nvGrpSpPr>
        <p:grpSpPr>
          <a:xfrm>
            <a:off x="0" y="3329876"/>
            <a:ext cx="4608195" cy="126364"/>
            <a:chOff x="0" y="3329876"/>
            <a:chExt cx="4608195" cy="126364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D9C109C7-FA37-B00B-1065-E188A6F2DA50}"/>
                </a:ext>
              </a:extLst>
            </p:cNvPr>
            <p:cNvSpPr/>
            <p:nvPr/>
          </p:nvSpPr>
          <p:spPr>
            <a:xfrm>
              <a:off x="0" y="3329876"/>
              <a:ext cx="2304415" cy="126364"/>
            </a:xfrm>
            <a:custGeom>
              <a:avLst/>
              <a:gdLst/>
              <a:ahLst/>
              <a:cxnLst/>
              <a:rect l="l" t="t" r="r" b="b"/>
              <a:pathLst>
                <a:path w="2304415" h="126364">
                  <a:moveTo>
                    <a:pt x="2303995" y="0"/>
                  </a:moveTo>
                  <a:lnTo>
                    <a:pt x="0" y="0"/>
                  </a:lnTo>
                  <a:lnTo>
                    <a:pt x="0" y="126123"/>
                  </a:lnTo>
                  <a:lnTo>
                    <a:pt x="2303995" y="12612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17C1F09-B947-0728-8A05-B5AE7565E2C0}"/>
                </a:ext>
              </a:extLst>
            </p:cNvPr>
            <p:cNvSpPr/>
            <p:nvPr/>
          </p:nvSpPr>
          <p:spPr>
            <a:xfrm>
              <a:off x="2303995" y="3329876"/>
              <a:ext cx="2304415" cy="126364"/>
            </a:xfrm>
            <a:custGeom>
              <a:avLst/>
              <a:gdLst/>
              <a:ahLst/>
              <a:cxnLst/>
              <a:rect l="l" t="t" r="r" b="b"/>
              <a:pathLst>
                <a:path w="2304415" h="126364">
                  <a:moveTo>
                    <a:pt x="2303995" y="0"/>
                  </a:moveTo>
                  <a:lnTo>
                    <a:pt x="0" y="0"/>
                  </a:lnTo>
                  <a:lnTo>
                    <a:pt x="0" y="126123"/>
                  </a:lnTo>
                  <a:lnTo>
                    <a:pt x="2303995" y="12612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1101BF75-74D8-D6CC-5AA1-5F57402782C9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95300" y="3344944"/>
            <a:ext cx="2108835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685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Engineering </a:t>
            </a:r>
          </a:p>
          <a:p>
            <a:pPr marL="12700">
              <a:lnSpc>
                <a:spcPts val="685"/>
              </a:lnSpc>
            </a:pPr>
            <a:endParaRPr lang="en-US" spc="-10" dirty="0"/>
          </a:p>
          <a:p>
            <a:pPr marL="12700">
              <a:lnSpc>
                <a:spcPts val="685"/>
              </a:lnSpc>
            </a:pPr>
            <a:endParaRPr spc="-10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84431E3-698F-DA94-DA93-642A77AD2770}"/>
              </a:ext>
            </a:extLst>
          </p:cNvPr>
          <p:cNvSpPr txBox="1"/>
          <p:nvPr/>
        </p:nvSpPr>
        <p:spPr>
          <a:xfrm>
            <a:off x="3121736" y="3329876"/>
            <a:ext cx="326314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85"/>
              </a:lnSpc>
            </a:pPr>
            <a:fld id="{81D60167-4931-47E6-BA6A-407CBD079E47}" type="slidenum">
              <a:rPr sz="600" b="1" spc="75" smtClean="0">
                <a:solidFill>
                  <a:srgbClr val="FFFFFF"/>
                </a:solidFill>
                <a:latin typeface="Arial"/>
                <a:cs typeface="Arial"/>
              </a:rPr>
              <a:t>10</a:t>
            </a:fld>
            <a:r>
              <a:rPr sz="600" b="1" spc="75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lang="en-US" sz="600" b="1" spc="55" dirty="0">
                <a:solidFill>
                  <a:srgbClr val="FFFFFF"/>
                </a:solidFill>
                <a:latin typeface="Arial"/>
                <a:cs typeface="Arial"/>
              </a:rPr>
              <a:t>17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11A649-DEDA-4A99-AD4E-F63AE0C88539}"/>
              </a:ext>
            </a:extLst>
          </p:cNvPr>
          <p:cNvSpPr txBox="1"/>
          <p:nvPr/>
        </p:nvSpPr>
        <p:spPr>
          <a:xfrm>
            <a:off x="123951" y="384811"/>
            <a:ext cx="436008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Applied deep learning models such as YOLOv8, YOLOv9, YOLOv10, and YOLOv11 for fire and smoke detection.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YOLO models as they are efficient in detecting objects in real time with high accuracy.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Trained multiple models to compare performance and identify the most effective model for detection.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Conducted train-test split to evaluate model performance using metrics like precision, recall, and mean average precision (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4F54DF65-38BF-B678-1052-FCA3754619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Image 4">
            <a:extLst>
              <a:ext uri="{FF2B5EF4-FFF2-40B4-BE49-F238E27FC236}">
                <a16:creationId xmlns:a16="http://schemas.microsoft.com/office/drawing/2014/main" id="{8B7CB056-8FA5-29E0-A082-1904544EA0D4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5772" y="1831361"/>
            <a:ext cx="2736725" cy="1243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881402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C75B1-F5E9-094B-BE72-D265B9CCB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642A12A-4FCE-90E2-1364-4D5D2EBAE312}"/>
              </a:ext>
            </a:extLst>
          </p:cNvPr>
          <p:cNvSpPr txBox="1"/>
          <p:nvPr/>
        </p:nvSpPr>
        <p:spPr>
          <a:xfrm>
            <a:off x="154762" y="-2580"/>
            <a:ext cx="3217088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IN" sz="1400" spc="-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4.4 Model Evaluation</a:t>
            </a:r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7926FF3B-DF57-3DDE-141F-66947A093855}"/>
              </a:ext>
            </a:extLst>
          </p:cNvPr>
          <p:cNvGrpSpPr/>
          <p:nvPr/>
        </p:nvGrpSpPr>
        <p:grpSpPr>
          <a:xfrm>
            <a:off x="0" y="3329876"/>
            <a:ext cx="4608195" cy="126364"/>
            <a:chOff x="0" y="3329876"/>
            <a:chExt cx="4608195" cy="126364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3BBD63F-769D-EF28-2763-7010F275090B}"/>
                </a:ext>
              </a:extLst>
            </p:cNvPr>
            <p:cNvSpPr/>
            <p:nvPr/>
          </p:nvSpPr>
          <p:spPr>
            <a:xfrm>
              <a:off x="0" y="3329876"/>
              <a:ext cx="2304415" cy="126364"/>
            </a:xfrm>
            <a:custGeom>
              <a:avLst/>
              <a:gdLst/>
              <a:ahLst/>
              <a:cxnLst/>
              <a:rect l="l" t="t" r="r" b="b"/>
              <a:pathLst>
                <a:path w="2304415" h="126364">
                  <a:moveTo>
                    <a:pt x="2303995" y="0"/>
                  </a:moveTo>
                  <a:lnTo>
                    <a:pt x="0" y="0"/>
                  </a:lnTo>
                  <a:lnTo>
                    <a:pt x="0" y="126123"/>
                  </a:lnTo>
                  <a:lnTo>
                    <a:pt x="2303995" y="12612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B0F672B-7462-3737-FC71-25C018974B9D}"/>
                </a:ext>
              </a:extLst>
            </p:cNvPr>
            <p:cNvSpPr/>
            <p:nvPr/>
          </p:nvSpPr>
          <p:spPr>
            <a:xfrm>
              <a:off x="2303995" y="3329876"/>
              <a:ext cx="2304415" cy="126364"/>
            </a:xfrm>
            <a:custGeom>
              <a:avLst/>
              <a:gdLst/>
              <a:ahLst/>
              <a:cxnLst/>
              <a:rect l="l" t="t" r="r" b="b"/>
              <a:pathLst>
                <a:path w="2304415" h="126364">
                  <a:moveTo>
                    <a:pt x="2303995" y="0"/>
                  </a:moveTo>
                  <a:lnTo>
                    <a:pt x="0" y="0"/>
                  </a:lnTo>
                  <a:lnTo>
                    <a:pt x="0" y="126123"/>
                  </a:lnTo>
                  <a:lnTo>
                    <a:pt x="2303995" y="12612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EFA7A3D8-742A-1A63-2C67-EABE54632F1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95300" y="3344944"/>
            <a:ext cx="2108835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685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Engineering </a:t>
            </a:r>
          </a:p>
          <a:p>
            <a:pPr marL="12700">
              <a:lnSpc>
                <a:spcPts val="685"/>
              </a:lnSpc>
            </a:pPr>
            <a:endParaRPr lang="en-US" spc="-10" dirty="0"/>
          </a:p>
          <a:p>
            <a:pPr marL="12700">
              <a:lnSpc>
                <a:spcPts val="685"/>
              </a:lnSpc>
            </a:pPr>
            <a:endParaRPr spc="-10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8CEE09-DC92-556B-B4CE-16681756D507}"/>
              </a:ext>
            </a:extLst>
          </p:cNvPr>
          <p:cNvSpPr txBox="1"/>
          <p:nvPr/>
        </p:nvSpPr>
        <p:spPr>
          <a:xfrm>
            <a:off x="3067050" y="3329876"/>
            <a:ext cx="30480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85"/>
              </a:lnSpc>
            </a:pPr>
            <a:fld id="{81D60167-4931-47E6-BA6A-407CBD079E47}" type="slidenum">
              <a:rPr sz="600" b="1" spc="75" smtClean="0">
                <a:solidFill>
                  <a:srgbClr val="FFFFFF"/>
                </a:solidFill>
                <a:latin typeface="Arial"/>
                <a:cs typeface="Arial"/>
              </a:rPr>
              <a:t>11</a:t>
            </a:fld>
            <a:r>
              <a:rPr sz="600" b="1" spc="75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lang="en-US" sz="600" b="1" spc="55" dirty="0">
                <a:solidFill>
                  <a:srgbClr val="FFFFFF"/>
                </a:solidFill>
                <a:latin typeface="Arial"/>
                <a:cs typeface="Arial"/>
              </a:rPr>
              <a:t>17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89AF1D-191A-F737-07E9-C3A507136E5B}"/>
              </a:ext>
            </a:extLst>
          </p:cNvPr>
          <p:cNvSpPr txBox="1"/>
          <p:nvPr/>
        </p:nvSpPr>
        <p:spPr>
          <a:xfrm>
            <a:off x="76250" y="380045"/>
            <a:ext cx="43600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model performance using standard metrics such as precision, recall, and mean average precision (</a:t>
            </a:r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Analyzed confusion matrix to understand correct and incorrect predictions of fire and smoke detection.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Precision-Recall curve to evaluate the trade-off between precision and recall.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F1-score to measure the balance between precision and recall. </a:t>
            </a:r>
          </a:p>
          <a:p>
            <a:b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5">
            <a:extLst>
              <a:ext uri="{FF2B5EF4-FFF2-40B4-BE49-F238E27FC236}">
                <a16:creationId xmlns:a16="http://schemas.microsoft.com/office/drawing/2014/main" id="{D2C61884-CB49-826C-1078-05F1350EEB3D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7650" y="1610347"/>
            <a:ext cx="1670735" cy="1569660"/>
          </a:xfrm>
          <a:prstGeom prst="rect">
            <a:avLst/>
          </a:prstGeom>
        </p:spPr>
      </p:pic>
      <p:pic>
        <p:nvPicPr>
          <p:cNvPr id="11" name="Image 7">
            <a:extLst>
              <a:ext uri="{FF2B5EF4-FFF2-40B4-BE49-F238E27FC236}">
                <a16:creationId xmlns:a16="http://schemas.microsoft.com/office/drawing/2014/main" id="{AD1D6CEB-E0E6-334C-947F-577429C145E7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05050" y="1622329"/>
            <a:ext cx="1853515" cy="156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320245"/>
      </p:ext>
    </p:extLst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33065-B077-07B0-0E39-5FB79AF85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FC009DA-B4EF-D4FF-3341-270919CADBDA}"/>
              </a:ext>
            </a:extLst>
          </p:cNvPr>
          <p:cNvSpPr txBox="1"/>
          <p:nvPr/>
        </p:nvSpPr>
        <p:spPr>
          <a:xfrm>
            <a:off x="154762" y="-2580"/>
            <a:ext cx="3902888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400" spc="-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IN" sz="1400" spc="-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Work Done So Far &amp; Contribution of Each Member </a:t>
            </a:r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0416801-B17D-7366-F171-F63C26B5F155}"/>
              </a:ext>
            </a:extLst>
          </p:cNvPr>
          <p:cNvGrpSpPr/>
          <p:nvPr/>
        </p:nvGrpSpPr>
        <p:grpSpPr>
          <a:xfrm>
            <a:off x="0" y="3329876"/>
            <a:ext cx="4608195" cy="126364"/>
            <a:chOff x="0" y="3329876"/>
            <a:chExt cx="4608195" cy="126364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B24B1D0-1456-0014-B694-7B0204C3C70D}"/>
                </a:ext>
              </a:extLst>
            </p:cNvPr>
            <p:cNvSpPr/>
            <p:nvPr/>
          </p:nvSpPr>
          <p:spPr>
            <a:xfrm>
              <a:off x="0" y="3329876"/>
              <a:ext cx="2304415" cy="126364"/>
            </a:xfrm>
            <a:custGeom>
              <a:avLst/>
              <a:gdLst/>
              <a:ahLst/>
              <a:cxnLst/>
              <a:rect l="l" t="t" r="r" b="b"/>
              <a:pathLst>
                <a:path w="2304415" h="126364">
                  <a:moveTo>
                    <a:pt x="2303995" y="0"/>
                  </a:moveTo>
                  <a:lnTo>
                    <a:pt x="0" y="0"/>
                  </a:lnTo>
                  <a:lnTo>
                    <a:pt x="0" y="126123"/>
                  </a:lnTo>
                  <a:lnTo>
                    <a:pt x="2303995" y="12612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F46BC0DE-AA8C-25F3-C16D-79E4FE871245}"/>
                </a:ext>
              </a:extLst>
            </p:cNvPr>
            <p:cNvSpPr/>
            <p:nvPr/>
          </p:nvSpPr>
          <p:spPr>
            <a:xfrm>
              <a:off x="2303995" y="3329876"/>
              <a:ext cx="2304415" cy="126364"/>
            </a:xfrm>
            <a:custGeom>
              <a:avLst/>
              <a:gdLst/>
              <a:ahLst/>
              <a:cxnLst/>
              <a:rect l="l" t="t" r="r" b="b"/>
              <a:pathLst>
                <a:path w="2304415" h="126364">
                  <a:moveTo>
                    <a:pt x="2303995" y="0"/>
                  </a:moveTo>
                  <a:lnTo>
                    <a:pt x="0" y="0"/>
                  </a:lnTo>
                  <a:lnTo>
                    <a:pt x="0" y="126123"/>
                  </a:lnTo>
                  <a:lnTo>
                    <a:pt x="2303995" y="12612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1996989A-6E2F-7173-6EB1-ECE0AA0DD65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95300" y="3344944"/>
            <a:ext cx="2108835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685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Engineering </a:t>
            </a:r>
          </a:p>
          <a:p>
            <a:pPr marL="12700">
              <a:lnSpc>
                <a:spcPts val="685"/>
              </a:lnSpc>
            </a:pPr>
            <a:endParaRPr lang="en-US" spc="-10" dirty="0"/>
          </a:p>
          <a:p>
            <a:pPr marL="12700">
              <a:lnSpc>
                <a:spcPts val="685"/>
              </a:lnSpc>
            </a:pPr>
            <a:endParaRPr spc="-10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F9254BA-D6A0-C8A5-E24D-F1D73CD96CE8}"/>
              </a:ext>
            </a:extLst>
          </p:cNvPr>
          <p:cNvSpPr txBox="1"/>
          <p:nvPr/>
        </p:nvSpPr>
        <p:spPr>
          <a:xfrm>
            <a:off x="3121736" y="3322720"/>
            <a:ext cx="402514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85"/>
              </a:lnSpc>
            </a:pPr>
            <a:fld id="{81D60167-4931-47E6-BA6A-407CBD079E47}" type="slidenum">
              <a:rPr sz="600" b="1" spc="75" smtClean="0">
                <a:solidFill>
                  <a:srgbClr val="FFFFFF"/>
                </a:solidFill>
                <a:latin typeface="Arial"/>
                <a:cs typeface="Arial"/>
              </a:rPr>
              <a:t>12</a:t>
            </a:fld>
            <a:r>
              <a:rPr sz="600" b="1" spc="75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lang="en-US" sz="600" b="1" spc="55" dirty="0">
                <a:solidFill>
                  <a:srgbClr val="FFFFFF"/>
                </a:solidFill>
                <a:latin typeface="Arial"/>
                <a:cs typeface="Arial"/>
              </a:rPr>
              <a:t>17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852FB4-0A83-8BFA-3460-7EA4A4539C61}"/>
              </a:ext>
            </a:extLst>
          </p:cNvPr>
          <p:cNvSpPr txBox="1"/>
          <p:nvPr/>
        </p:nvSpPr>
        <p:spPr>
          <a:xfrm>
            <a:off x="154762" y="511175"/>
            <a:ext cx="436008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Collected and preprocessed fire and smoke image dataset from publicly available sources.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image annotation using bounding boxes and split dataset into training, validation, and testing sets.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multiple YOLO models (YOLOv8, YOLOv9, YOLOv10, YOLOv11) for fire and smoke detection.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good performance, with </a:t>
            </a: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 giving best results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terms of precision, recall, and </a:t>
            </a:r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initial fire type classification module using YOLOv11 with a custom dataset of ~400 images.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 of each member 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Chintakunta</a:t>
            </a: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Guru Dinesh Reddy : 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collection, preprocessing, annotation, and model training to improve results.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Adnan Sami : 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and fire type classification</a:t>
            </a:r>
            <a:endParaRPr lang="en-US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1422210"/>
      </p:ext>
    </p:extLst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7B58D-AC54-4422-DB1E-971CF426F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46802B9-DF50-5B8A-2CE0-F7F848A7414C}"/>
              </a:ext>
            </a:extLst>
          </p:cNvPr>
          <p:cNvSpPr txBox="1"/>
          <p:nvPr/>
        </p:nvSpPr>
        <p:spPr>
          <a:xfrm>
            <a:off x="154762" y="-2580"/>
            <a:ext cx="3902888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400" spc="-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Remaining Work</a:t>
            </a:r>
            <a:r>
              <a:rPr lang="en-IN" sz="1400" spc="-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4EAF325-A855-C218-93BA-10F6CBBF9913}"/>
              </a:ext>
            </a:extLst>
          </p:cNvPr>
          <p:cNvGrpSpPr/>
          <p:nvPr/>
        </p:nvGrpSpPr>
        <p:grpSpPr>
          <a:xfrm>
            <a:off x="0" y="3329876"/>
            <a:ext cx="4608195" cy="126364"/>
            <a:chOff x="0" y="3329876"/>
            <a:chExt cx="4608195" cy="126364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8E9D1FD-217D-84C5-44A3-C6258100F0C3}"/>
                </a:ext>
              </a:extLst>
            </p:cNvPr>
            <p:cNvSpPr/>
            <p:nvPr/>
          </p:nvSpPr>
          <p:spPr>
            <a:xfrm>
              <a:off x="0" y="3329876"/>
              <a:ext cx="2304415" cy="126364"/>
            </a:xfrm>
            <a:custGeom>
              <a:avLst/>
              <a:gdLst/>
              <a:ahLst/>
              <a:cxnLst/>
              <a:rect l="l" t="t" r="r" b="b"/>
              <a:pathLst>
                <a:path w="2304415" h="126364">
                  <a:moveTo>
                    <a:pt x="2303995" y="0"/>
                  </a:moveTo>
                  <a:lnTo>
                    <a:pt x="0" y="0"/>
                  </a:lnTo>
                  <a:lnTo>
                    <a:pt x="0" y="126123"/>
                  </a:lnTo>
                  <a:lnTo>
                    <a:pt x="2303995" y="12612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39880D2-8F8D-B44C-1780-1847B8A50899}"/>
                </a:ext>
              </a:extLst>
            </p:cNvPr>
            <p:cNvSpPr/>
            <p:nvPr/>
          </p:nvSpPr>
          <p:spPr>
            <a:xfrm>
              <a:off x="2303995" y="3329876"/>
              <a:ext cx="2304415" cy="126364"/>
            </a:xfrm>
            <a:custGeom>
              <a:avLst/>
              <a:gdLst/>
              <a:ahLst/>
              <a:cxnLst/>
              <a:rect l="l" t="t" r="r" b="b"/>
              <a:pathLst>
                <a:path w="2304415" h="126364">
                  <a:moveTo>
                    <a:pt x="2303995" y="0"/>
                  </a:moveTo>
                  <a:lnTo>
                    <a:pt x="0" y="0"/>
                  </a:lnTo>
                  <a:lnTo>
                    <a:pt x="0" y="126123"/>
                  </a:lnTo>
                  <a:lnTo>
                    <a:pt x="2303995" y="12612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83E4044A-5422-9D26-D4B4-C9F5AF427D3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95300" y="3344944"/>
            <a:ext cx="2108835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685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Engineering </a:t>
            </a:r>
          </a:p>
          <a:p>
            <a:pPr marL="12700">
              <a:lnSpc>
                <a:spcPts val="685"/>
              </a:lnSpc>
            </a:pPr>
            <a:endParaRPr lang="en-US" spc="-10" dirty="0"/>
          </a:p>
          <a:p>
            <a:pPr marL="12700">
              <a:lnSpc>
                <a:spcPts val="685"/>
              </a:lnSpc>
            </a:pPr>
            <a:endParaRPr spc="-10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9BFB6D6-DCDD-7F66-8FB7-4933A31983DE}"/>
              </a:ext>
            </a:extLst>
          </p:cNvPr>
          <p:cNvSpPr txBox="1"/>
          <p:nvPr/>
        </p:nvSpPr>
        <p:spPr>
          <a:xfrm>
            <a:off x="3121736" y="3329876"/>
            <a:ext cx="326314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85"/>
              </a:lnSpc>
            </a:pPr>
            <a:fld id="{81D60167-4931-47E6-BA6A-407CBD079E47}" type="slidenum">
              <a:rPr sz="600" b="1" spc="75" smtClean="0">
                <a:solidFill>
                  <a:srgbClr val="FFFFFF"/>
                </a:solidFill>
                <a:latin typeface="Arial"/>
                <a:cs typeface="Arial"/>
              </a:rPr>
              <a:t>13</a:t>
            </a:fld>
            <a:r>
              <a:rPr sz="600" b="1" spc="75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lang="en-US" sz="600" b="1" spc="55" dirty="0">
                <a:solidFill>
                  <a:srgbClr val="FFFFFF"/>
                </a:solidFill>
                <a:latin typeface="Arial"/>
                <a:cs typeface="Arial"/>
              </a:rPr>
              <a:t>17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93221D37-3B7D-8930-080B-E7E0D2007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" y="282575"/>
            <a:ext cx="4055288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the fire type classification model by expanding the dataset and enhancing model accuracy.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Apply advanced techniques such as HSV-based feature analysis to improve classification reliability.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 fire detection and classification into a single system for real-time monitoring.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 testing on different scenarios and optimize the system for better performance and robustness. </a:t>
            </a:r>
          </a:p>
        </p:txBody>
      </p:sp>
    </p:spTree>
    <p:extLst>
      <p:ext uri="{BB962C8B-B14F-4D97-AF65-F5344CB8AC3E}">
        <p14:creationId xmlns:p14="http://schemas.microsoft.com/office/powerpoint/2010/main" val="251260892"/>
      </p:ext>
    </p:extLst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62C77-59E1-9452-E6AE-E5CB1D166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0256830-E513-BCEE-E531-D6440C539B8C}"/>
              </a:ext>
            </a:extLst>
          </p:cNvPr>
          <p:cNvSpPr txBox="1"/>
          <p:nvPr/>
        </p:nvSpPr>
        <p:spPr>
          <a:xfrm>
            <a:off x="154762" y="-2580"/>
            <a:ext cx="3902888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400" spc="-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Scope</a:t>
            </a:r>
            <a:r>
              <a:rPr lang="en-IN" sz="1400" spc="-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3A37DBBC-885B-B9F3-D899-A93D2E8E3FBD}"/>
              </a:ext>
            </a:extLst>
          </p:cNvPr>
          <p:cNvGrpSpPr/>
          <p:nvPr/>
        </p:nvGrpSpPr>
        <p:grpSpPr>
          <a:xfrm>
            <a:off x="0" y="3329876"/>
            <a:ext cx="4608195" cy="126364"/>
            <a:chOff x="0" y="3329876"/>
            <a:chExt cx="4608195" cy="126364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2AC7B32-4341-35FB-3753-1E129A9059B1}"/>
                </a:ext>
              </a:extLst>
            </p:cNvPr>
            <p:cNvSpPr/>
            <p:nvPr/>
          </p:nvSpPr>
          <p:spPr>
            <a:xfrm>
              <a:off x="0" y="3329876"/>
              <a:ext cx="2304415" cy="126364"/>
            </a:xfrm>
            <a:custGeom>
              <a:avLst/>
              <a:gdLst/>
              <a:ahLst/>
              <a:cxnLst/>
              <a:rect l="l" t="t" r="r" b="b"/>
              <a:pathLst>
                <a:path w="2304415" h="126364">
                  <a:moveTo>
                    <a:pt x="2303995" y="0"/>
                  </a:moveTo>
                  <a:lnTo>
                    <a:pt x="0" y="0"/>
                  </a:lnTo>
                  <a:lnTo>
                    <a:pt x="0" y="126123"/>
                  </a:lnTo>
                  <a:lnTo>
                    <a:pt x="2303995" y="12612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C7C8708-E226-C809-C56C-5DB0E019CD0A}"/>
                </a:ext>
              </a:extLst>
            </p:cNvPr>
            <p:cNvSpPr/>
            <p:nvPr/>
          </p:nvSpPr>
          <p:spPr>
            <a:xfrm>
              <a:off x="2303995" y="3329876"/>
              <a:ext cx="2304415" cy="126364"/>
            </a:xfrm>
            <a:custGeom>
              <a:avLst/>
              <a:gdLst/>
              <a:ahLst/>
              <a:cxnLst/>
              <a:rect l="l" t="t" r="r" b="b"/>
              <a:pathLst>
                <a:path w="2304415" h="126364">
                  <a:moveTo>
                    <a:pt x="2303995" y="0"/>
                  </a:moveTo>
                  <a:lnTo>
                    <a:pt x="0" y="0"/>
                  </a:lnTo>
                  <a:lnTo>
                    <a:pt x="0" y="126123"/>
                  </a:lnTo>
                  <a:lnTo>
                    <a:pt x="2303995" y="12612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F356A1B7-E167-3BF3-1FCB-47A41634392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95300" y="3344944"/>
            <a:ext cx="2108835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685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Engineering </a:t>
            </a:r>
          </a:p>
          <a:p>
            <a:pPr marL="12700">
              <a:lnSpc>
                <a:spcPts val="685"/>
              </a:lnSpc>
            </a:pPr>
            <a:endParaRPr lang="en-US" spc="-10" dirty="0"/>
          </a:p>
          <a:p>
            <a:pPr marL="12700">
              <a:lnSpc>
                <a:spcPts val="685"/>
              </a:lnSpc>
            </a:pPr>
            <a:endParaRPr spc="-10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8A588E1-F9DB-1A60-6CFE-6C2AB6624657}"/>
              </a:ext>
            </a:extLst>
          </p:cNvPr>
          <p:cNvSpPr txBox="1"/>
          <p:nvPr/>
        </p:nvSpPr>
        <p:spPr>
          <a:xfrm>
            <a:off x="3121736" y="3344944"/>
            <a:ext cx="478714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85"/>
              </a:lnSpc>
            </a:pPr>
            <a:fld id="{81D60167-4931-47E6-BA6A-407CBD079E47}" type="slidenum">
              <a:rPr sz="600" b="1" spc="75" smtClean="0">
                <a:solidFill>
                  <a:srgbClr val="FFFFFF"/>
                </a:solidFill>
                <a:latin typeface="Arial"/>
                <a:cs typeface="Arial"/>
              </a:rPr>
              <a:t>14</a:t>
            </a:fld>
            <a:r>
              <a:rPr sz="600" b="1" spc="75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lang="en-US" sz="600" b="1" spc="-50" dirty="0">
                <a:solidFill>
                  <a:srgbClr val="FFFFFF"/>
                </a:solidFill>
                <a:latin typeface="Arial"/>
                <a:cs typeface="Arial"/>
              </a:rPr>
              <a:t>17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7EC13F-9FC1-C518-2D68-6A3D1BC4C8F1}"/>
              </a:ext>
            </a:extLst>
          </p:cNvPr>
          <p:cNvSpPr txBox="1"/>
          <p:nvPr/>
        </p:nvSpPr>
        <p:spPr>
          <a:xfrm>
            <a:off x="63032" y="558516"/>
            <a:ext cx="43600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visual data using deep learning techniques to detect fire and smoke in real-time.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fire characteristics and classifying fire types to support accurate and effective emergency response.</a:t>
            </a: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Applying the system in real-world scenarios such as industrial safety, forest fire monitoring, and smart city surveillance.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Enhancing public safety by enabling early detection and reducing damage to life, property, and the environment.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990731"/>
      </p:ext>
    </p:extLst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D693F-9EAA-0FA3-D39B-D2CB6D899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B99865D-8AB6-C6B5-B750-A8E0D7381DB4}"/>
              </a:ext>
            </a:extLst>
          </p:cNvPr>
          <p:cNvSpPr txBox="1"/>
          <p:nvPr/>
        </p:nvSpPr>
        <p:spPr>
          <a:xfrm>
            <a:off x="154762" y="-2580"/>
            <a:ext cx="3902888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400" spc="-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Conclusion</a:t>
            </a:r>
            <a:r>
              <a:rPr lang="en-IN" sz="1400" spc="-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6BFD4A13-2090-1CFE-7538-28A6248259E3}"/>
              </a:ext>
            </a:extLst>
          </p:cNvPr>
          <p:cNvGrpSpPr/>
          <p:nvPr/>
        </p:nvGrpSpPr>
        <p:grpSpPr>
          <a:xfrm>
            <a:off x="0" y="3329876"/>
            <a:ext cx="4608195" cy="126364"/>
            <a:chOff x="0" y="3329876"/>
            <a:chExt cx="4608195" cy="126364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95AF546-735E-4916-9D02-CC43166D37C0}"/>
                </a:ext>
              </a:extLst>
            </p:cNvPr>
            <p:cNvSpPr/>
            <p:nvPr/>
          </p:nvSpPr>
          <p:spPr>
            <a:xfrm>
              <a:off x="0" y="3329876"/>
              <a:ext cx="2304415" cy="126364"/>
            </a:xfrm>
            <a:custGeom>
              <a:avLst/>
              <a:gdLst/>
              <a:ahLst/>
              <a:cxnLst/>
              <a:rect l="l" t="t" r="r" b="b"/>
              <a:pathLst>
                <a:path w="2304415" h="126364">
                  <a:moveTo>
                    <a:pt x="2303995" y="0"/>
                  </a:moveTo>
                  <a:lnTo>
                    <a:pt x="0" y="0"/>
                  </a:lnTo>
                  <a:lnTo>
                    <a:pt x="0" y="126123"/>
                  </a:lnTo>
                  <a:lnTo>
                    <a:pt x="2303995" y="12612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C8F209E-C0A8-D8B4-EE21-C820B12C79AF}"/>
                </a:ext>
              </a:extLst>
            </p:cNvPr>
            <p:cNvSpPr/>
            <p:nvPr/>
          </p:nvSpPr>
          <p:spPr>
            <a:xfrm>
              <a:off x="2303995" y="3329876"/>
              <a:ext cx="2304415" cy="126364"/>
            </a:xfrm>
            <a:custGeom>
              <a:avLst/>
              <a:gdLst/>
              <a:ahLst/>
              <a:cxnLst/>
              <a:rect l="l" t="t" r="r" b="b"/>
              <a:pathLst>
                <a:path w="2304415" h="126364">
                  <a:moveTo>
                    <a:pt x="2303995" y="0"/>
                  </a:moveTo>
                  <a:lnTo>
                    <a:pt x="0" y="0"/>
                  </a:lnTo>
                  <a:lnTo>
                    <a:pt x="0" y="126123"/>
                  </a:lnTo>
                  <a:lnTo>
                    <a:pt x="2303995" y="12612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2E4375A3-1BC8-2B6E-9C70-F48B587276B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95300" y="3344944"/>
            <a:ext cx="2108835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685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Engineering </a:t>
            </a:r>
          </a:p>
          <a:p>
            <a:pPr marL="12700">
              <a:lnSpc>
                <a:spcPts val="685"/>
              </a:lnSpc>
            </a:pPr>
            <a:endParaRPr lang="en-US" spc="-10" dirty="0"/>
          </a:p>
          <a:p>
            <a:pPr marL="12700">
              <a:lnSpc>
                <a:spcPts val="685"/>
              </a:lnSpc>
            </a:pPr>
            <a:endParaRPr spc="-10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9E5D8A1-15F9-AE0A-0585-1F64AA04B025}"/>
              </a:ext>
            </a:extLst>
          </p:cNvPr>
          <p:cNvSpPr txBox="1"/>
          <p:nvPr/>
        </p:nvSpPr>
        <p:spPr>
          <a:xfrm>
            <a:off x="3121736" y="3344944"/>
            <a:ext cx="478714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85"/>
              </a:lnSpc>
            </a:pPr>
            <a:fld id="{81D60167-4931-47E6-BA6A-407CBD079E47}" type="slidenum">
              <a:rPr sz="600" b="1" spc="75" smtClean="0">
                <a:solidFill>
                  <a:srgbClr val="FFFFFF"/>
                </a:solidFill>
                <a:latin typeface="Arial"/>
                <a:cs typeface="Arial"/>
              </a:rPr>
              <a:t>15</a:t>
            </a:fld>
            <a:r>
              <a:rPr sz="600" b="1" spc="75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lang="en-US" sz="600" b="1" spc="-50" dirty="0">
                <a:solidFill>
                  <a:srgbClr val="FFFFFF"/>
                </a:solidFill>
                <a:latin typeface="Arial"/>
                <a:cs typeface="Arial"/>
              </a:rPr>
              <a:t>17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01EE7E8B-B722-A3AD-B046-2E1673C93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9166"/>
            <a:ext cx="4455338" cy="2277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 deep learning-based system to detect fire and smoke using computer vision techniques.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Applied YOLO models to accurately identify fire and smoke regions in images with good performance.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Enhanced the system by introducing fire type classification (Class A and Class B) for better decision-making.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the effectiveness of combining detection and classification in a two-stage pipeline.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solution shows the potential of AI and deep learning in improving fire safety and early disaster detection systems. </a:t>
            </a:r>
          </a:p>
        </p:txBody>
      </p:sp>
    </p:spTree>
    <p:extLst>
      <p:ext uri="{BB962C8B-B14F-4D97-AF65-F5344CB8AC3E}">
        <p14:creationId xmlns:p14="http://schemas.microsoft.com/office/powerpoint/2010/main" val="2915160476"/>
      </p:ext>
    </p:extLst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E8F24-0C32-A252-7454-49F5E3D64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AF9ACFB-862A-0A63-EC39-B63E783DC653}"/>
              </a:ext>
            </a:extLst>
          </p:cNvPr>
          <p:cNvSpPr txBox="1"/>
          <p:nvPr/>
        </p:nvSpPr>
        <p:spPr>
          <a:xfrm>
            <a:off x="154762" y="-2580"/>
            <a:ext cx="3902888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400" spc="-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 References</a:t>
            </a:r>
            <a:r>
              <a:rPr lang="en-IN" sz="1400" spc="-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099BB43-3DCD-1408-4188-92846FBC6BB9}"/>
              </a:ext>
            </a:extLst>
          </p:cNvPr>
          <p:cNvGrpSpPr/>
          <p:nvPr/>
        </p:nvGrpSpPr>
        <p:grpSpPr>
          <a:xfrm>
            <a:off x="0" y="3329876"/>
            <a:ext cx="4608195" cy="126364"/>
            <a:chOff x="0" y="3329876"/>
            <a:chExt cx="4608195" cy="126364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E037AFF-4DE0-9A24-19BE-059B7F7FDA35}"/>
                </a:ext>
              </a:extLst>
            </p:cNvPr>
            <p:cNvSpPr/>
            <p:nvPr/>
          </p:nvSpPr>
          <p:spPr>
            <a:xfrm>
              <a:off x="0" y="3329876"/>
              <a:ext cx="2304415" cy="126364"/>
            </a:xfrm>
            <a:custGeom>
              <a:avLst/>
              <a:gdLst/>
              <a:ahLst/>
              <a:cxnLst/>
              <a:rect l="l" t="t" r="r" b="b"/>
              <a:pathLst>
                <a:path w="2304415" h="126364">
                  <a:moveTo>
                    <a:pt x="2303995" y="0"/>
                  </a:moveTo>
                  <a:lnTo>
                    <a:pt x="0" y="0"/>
                  </a:lnTo>
                  <a:lnTo>
                    <a:pt x="0" y="126123"/>
                  </a:lnTo>
                  <a:lnTo>
                    <a:pt x="2303995" y="12612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6650AA7-7855-02FE-C825-D348A24768FC}"/>
                </a:ext>
              </a:extLst>
            </p:cNvPr>
            <p:cNvSpPr/>
            <p:nvPr/>
          </p:nvSpPr>
          <p:spPr>
            <a:xfrm>
              <a:off x="2303995" y="3329876"/>
              <a:ext cx="2304415" cy="126364"/>
            </a:xfrm>
            <a:custGeom>
              <a:avLst/>
              <a:gdLst/>
              <a:ahLst/>
              <a:cxnLst/>
              <a:rect l="l" t="t" r="r" b="b"/>
              <a:pathLst>
                <a:path w="2304415" h="126364">
                  <a:moveTo>
                    <a:pt x="2303995" y="0"/>
                  </a:moveTo>
                  <a:lnTo>
                    <a:pt x="0" y="0"/>
                  </a:lnTo>
                  <a:lnTo>
                    <a:pt x="0" y="126123"/>
                  </a:lnTo>
                  <a:lnTo>
                    <a:pt x="2303995" y="12612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13822992-9225-2997-4294-3EF13213C6DA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95300" y="3344944"/>
            <a:ext cx="2108835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685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Engineering </a:t>
            </a:r>
          </a:p>
          <a:p>
            <a:pPr marL="12700">
              <a:lnSpc>
                <a:spcPts val="685"/>
              </a:lnSpc>
            </a:pPr>
            <a:endParaRPr lang="en-US" spc="-10" dirty="0"/>
          </a:p>
          <a:p>
            <a:pPr marL="12700">
              <a:lnSpc>
                <a:spcPts val="685"/>
              </a:lnSpc>
            </a:pPr>
            <a:endParaRPr spc="-10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F9D8B0A-3E98-6FF5-9CF7-76D5F7FC7881}"/>
              </a:ext>
            </a:extLst>
          </p:cNvPr>
          <p:cNvSpPr txBox="1"/>
          <p:nvPr/>
        </p:nvSpPr>
        <p:spPr>
          <a:xfrm>
            <a:off x="3121736" y="3344944"/>
            <a:ext cx="402514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85"/>
              </a:lnSpc>
            </a:pPr>
            <a:fld id="{81D60167-4931-47E6-BA6A-407CBD079E47}" type="slidenum">
              <a:rPr sz="600" b="1" spc="75" smtClean="0">
                <a:solidFill>
                  <a:srgbClr val="FFFFFF"/>
                </a:solidFill>
                <a:latin typeface="Arial"/>
                <a:cs typeface="Arial"/>
              </a:rPr>
              <a:t>16</a:t>
            </a:fld>
            <a:r>
              <a:rPr sz="600" b="1" spc="75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lang="en-US" sz="600" b="1" spc="-50" dirty="0">
                <a:solidFill>
                  <a:srgbClr val="FFFFFF"/>
                </a:solidFill>
                <a:latin typeface="Arial"/>
                <a:cs typeface="Arial"/>
              </a:rPr>
              <a:t>17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33FB19-2BE7-3398-2ECC-8B3CDF95223F}"/>
              </a:ext>
            </a:extLst>
          </p:cNvPr>
          <p:cNvSpPr txBox="1"/>
          <p:nvPr/>
        </p:nvSpPr>
        <p:spPr>
          <a:xfrm>
            <a:off x="74021" y="309497"/>
            <a:ext cx="436008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Redmon et al., “You Only Look Once: Unified, Real-Time Object Detection,” CVPR, 2016.</a:t>
            </a:r>
          </a:p>
          <a:p>
            <a:pPr marL="228600" indent="-228600">
              <a:buFont typeface="+mj-lt"/>
              <a:buAutoNum type="arabicPeriod"/>
            </a:pPr>
            <a:endParaRPr lang="en-I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Z. Ge et al., “YOLOX: Exceeding YOLO Series in 2021,” </a:t>
            </a:r>
            <a:r>
              <a:rPr lang="en-IN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2021.</a:t>
            </a:r>
          </a:p>
          <a:p>
            <a:pPr marL="228600" indent="-228600">
              <a:buFont typeface="+mj-lt"/>
              <a:buAutoNum type="arabicPeriod"/>
            </a:pPr>
            <a:endParaRPr lang="en-I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C.-Y. Wang et al., “YOLOv7: Trainable Bag-of-Freebies Sets New State-of-the-Art,” </a:t>
            </a:r>
            <a:r>
              <a:rPr lang="en-IN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2022.</a:t>
            </a:r>
          </a:p>
          <a:p>
            <a:pPr marL="228600" indent="-228600">
              <a:buFont typeface="+mj-lt"/>
              <a:buAutoNum type="arabicPeriod"/>
            </a:pPr>
            <a:endParaRPr lang="en-I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Wang et al., “YOLOv9: Learning What You Want to Learn Using Programmable Gradient Information,” </a:t>
            </a:r>
            <a:r>
              <a:rPr lang="en-IN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pPr marL="228600" indent="-228600">
              <a:buFont typeface="+mj-lt"/>
              <a:buAutoNum type="arabicPeriod"/>
            </a:pPr>
            <a:endParaRPr lang="en-I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Frizzi et al., “CNN for Video Fire and Smoke Detection,” IEEE, 2016.</a:t>
            </a:r>
          </a:p>
          <a:p>
            <a:pPr marL="228600" indent="-228600">
              <a:buFont typeface="+mj-lt"/>
              <a:buAutoNum type="arabicPeriod"/>
            </a:pPr>
            <a:endParaRPr lang="en-I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</a:t>
            </a:r>
            <a:r>
              <a:rPr lang="en-IN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Barmpoutis</a:t>
            </a:r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“Fire Detection Using Faster R-CNN and Deep Learning,” 2019.</a:t>
            </a:r>
          </a:p>
          <a:p>
            <a:pPr marL="228600" indent="-228600">
              <a:buFont typeface="+mj-lt"/>
              <a:buAutoNum type="arabicPeriod"/>
            </a:pPr>
            <a:endParaRPr lang="en-I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Muhammad et al., “Vision-Based Fire Detection System Using Deep Learning,” IEEE Access, 2018.</a:t>
            </a:r>
          </a:p>
          <a:p>
            <a:pPr marL="228600" indent="-228600">
              <a:buFont typeface="+mj-lt"/>
              <a:buAutoNum type="arabicPeriod"/>
            </a:pPr>
            <a:endParaRPr lang="en-I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</a:t>
            </a:r>
            <a:r>
              <a:rPr lang="en-IN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Schmidhuber</a:t>
            </a:r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“Deep Learning in Neural Networks: An Overview,” 2015.</a:t>
            </a:r>
          </a:p>
          <a:p>
            <a:pPr marL="228600" indent="-228600">
              <a:buFont typeface="+mj-lt"/>
              <a:buAutoNum type="arabicPeriod"/>
            </a:pPr>
            <a:endParaRPr lang="en-I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C. Gonzalez et al., “Digital Image Processing,” Pearson, 2018.</a:t>
            </a:r>
          </a:p>
          <a:p>
            <a:pPr marL="228600" indent="-228600">
              <a:buFont typeface="+mj-lt"/>
              <a:buAutoNum type="arabicPeriod"/>
            </a:pPr>
            <a:endParaRPr lang="en-I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IN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Krizhevsky</a:t>
            </a:r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“ImageNet Classification with Deep CNNs,” </a:t>
            </a:r>
            <a:r>
              <a:rPr lang="en-IN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2012.</a:t>
            </a:r>
          </a:p>
          <a:p>
            <a:pPr marL="228600" indent="-228600">
              <a:buFont typeface="+mj-lt"/>
              <a:buAutoNum type="arabicPeriod"/>
            </a:pPr>
            <a:endParaRPr lang="en-I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 </a:t>
            </a:r>
            <a:r>
              <a:rPr lang="en-IN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Jocher</a:t>
            </a:r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“</a:t>
            </a:r>
            <a:r>
              <a:rPr lang="en-IN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Ultralytics</a:t>
            </a:r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YOLO,” 2023.</a:t>
            </a:r>
          </a:p>
          <a:p>
            <a:pPr marL="228600" indent="-228600">
              <a:buFont typeface="+mj-lt"/>
              <a:buAutoNum type="arabicPeriod"/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5974062"/>
      </p:ext>
    </p:extLst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800"/>
          </a:xfrm>
          <a:custGeom>
            <a:avLst/>
            <a:gdLst/>
            <a:ahLst/>
            <a:cxnLst/>
            <a:rect l="l" t="t" r="r" b="b"/>
            <a:pathLst>
              <a:path w="4608195" h="50800">
                <a:moveTo>
                  <a:pt x="4608060" y="0"/>
                </a:moveTo>
                <a:lnTo>
                  <a:pt x="0" y="0"/>
                </a:lnTo>
                <a:lnTo>
                  <a:pt x="0" y="50610"/>
                </a:lnTo>
                <a:lnTo>
                  <a:pt x="4608060" y="50610"/>
                </a:lnTo>
                <a:lnTo>
                  <a:pt x="46080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09193" y="1248828"/>
            <a:ext cx="4040504" cy="347345"/>
            <a:chOff x="309193" y="1248828"/>
            <a:chExt cx="4040504" cy="347345"/>
          </a:xfrm>
        </p:grpSpPr>
        <p:sp>
          <p:nvSpPr>
            <p:cNvPr id="4" name="object 4"/>
            <p:cNvSpPr/>
            <p:nvPr/>
          </p:nvSpPr>
          <p:spPr>
            <a:xfrm>
              <a:off x="309193" y="1248828"/>
              <a:ext cx="3989704" cy="82550"/>
            </a:xfrm>
            <a:custGeom>
              <a:avLst/>
              <a:gdLst/>
              <a:ahLst/>
              <a:cxnLst/>
              <a:rect l="l" t="t" r="r" b="b"/>
              <a:pathLst>
                <a:path w="3989704" h="82550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3989652" y="82384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9994" y="1312092"/>
              <a:ext cx="3989704" cy="284480"/>
            </a:xfrm>
            <a:custGeom>
              <a:avLst/>
              <a:gdLst/>
              <a:ahLst/>
              <a:cxnLst/>
              <a:rect l="l" t="t" r="r" b="b"/>
              <a:pathLst>
                <a:path w="3989704" h="284480">
                  <a:moveTo>
                    <a:pt x="3989652" y="0"/>
                  </a:moveTo>
                  <a:lnTo>
                    <a:pt x="0" y="0"/>
                  </a:lnTo>
                  <a:lnTo>
                    <a:pt x="0" y="283930"/>
                  </a:lnTo>
                  <a:lnTo>
                    <a:pt x="3989652" y="283930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09193" y="1293255"/>
              <a:ext cx="3989704" cy="252095"/>
            </a:xfrm>
            <a:custGeom>
              <a:avLst/>
              <a:gdLst/>
              <a:ahLst/>
              <a:cxnLst/>
              <a:rect l="l" t="t" r="r" b="b"/>
              <a:pathLst>
                <a:path w="3989704" h="252094">
                  <a:moveTo>
                    <a:pt x="3989652" y="0"/>
                  </a:moveTo>
                  <a:lnTo>
                    <a:pt x="0" y="0"/>
                  </a:lnTo>
                  <a:lnTo>
                    <a:pt x="0" y="201165"/>
                  </a:lnTo>
                  <a:lnTo>
                    <a:pt x="4008" y="220890"/>
                  </a:lnTo>
                  <a:lnTo>
                    <a:pt x="14922" y="237043"/>
                  </a:lnTo>
                  <a:lnTo>
                    <a:pt x="31075" y="247957"/>
                  </a:lnTo>
                  <a:lnTo>
                    <a:pt x="50800" y="251966"/>
                  </a:lnTo>
                  <a:lnTo>
                    <a:pt x="3938852" y="251966"/>
                  </a:lnTo>
                  <a:lnTo>
                    <a:pt x="3958576" y="247957"/>
                  </a:lnTo>
                  <a:lnTo>
                    <a:pt x="3974729" y="237043"/>
                  </a:lnTo>
                  <a:lnTo>
                    <a:pt x="3985644" y="220890"/>
                  </a:lnTo>
                  <a:lnTo>
                    <a:pt x="3989652" y="201165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93345" algn="ctr">
              <a:lnSpc>
                <a:spcPts val="1895"/>
              </a:lnSpc>
            </a:pPr>
            <a:r>
              <a:rPr dirty="0"/>
              <a:t>Thank</a:t>
            </a:r>
            <a:r>
              <a:rPr spc="120" dirty="0"/>
              <a:t> </a:t>
            </a:r>
            <a:r>
              <a:rPr spc="-25" dirty="0"/>
              <a:t>You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0" y="3329876"/>
            <a:ext cx="4608195" cy="126364"/>
            <a:chOff x="0" y="3329876"/>
            <a:chExt cx="4608195" cy="126364"/>
          </a:xfrm>
        </p:grpSpPr>
        <p:sp>
          <p:nvSpPr>
            <p:cNvPr id="9" name="object 9"/>
            <p:cNvSpPr/>
            <p:nvPr/>
          </p:nvSpPr>
          <p:spPr>
            <a:xfrm>
              <a:off x="0" y="3329876"/>
              <a:ext cx="2304415" cy="126364"/>
            </a:xfrm>
            <a:custGeom>
              <a:avLst/>
              <a:gdLst/>
              <a:ahLst/>
              <a:cxnLst/>
              <a:rect l="l" t="t" r="r" b="b"/>
              <a:pathLst>
                <a:path w="2304415" h="126364">
                  <a:moveTo>
                    <a:pt x="2303995" y="0"/>
                  </a:moveTo>
                  <a:lnTo>
                    <a:pt x="0" y="0"/>
                  </a:lnTo>
                  <a:lnTo>
                    <a:pt x="0" y="126123"/>
                  </a:lnTo>
                  <a:lnTo>
                    <a:pt x="2303995" y="12612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29876"/>
              <a:ext cx="2304415" cy="126364"/>
            </a:xfrm>
            <a:custGeom>
              <a:avLst/>
              <a:gdLst/>
              <a:ahLst/>
              <a:cxnLst/>
              <a:rect l="l" t="t" r="r" b="b"/>
              <a:pathLst>
                <a:path w="2304415" h="126364">
                  <a:moveTo>
                    <a:pt x="2303995" y="0"/>
                  </a:moveTo>
                  <a:lnTo>
                    <a:pt x="0" y="0"/>
                  </a:lnTo>
                  <a:lnTo>
                    <a:pt x="0" y="126123"/>
                  </a:lnTo>
                  <a:lnTo>
                    <a:pt x="2303995" y="12612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95300" y="3344944"/>
            <a:ext cx="2108835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685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Engineering </a:t>
            </a:r>
          </a:p>
          <a:p>
            <a:pPr marL="12700">
              <a:lnSpc>
                <a:spcPts val="685"/>
              </a:lnSpc>
            </a:pPr>
            <a:endParaRPr lang="en-US" spc="-10" dirty="0"/>
          </a:p>
          <a:p>
            <a:pPr marL="12700">
              <a:lnSpc>
                <a:spcPts val="685"/>
              </a:lnSpc>
            </a:pPr>
            <a:endParaRPr lang="en-US" spc="-10" dirty="0"/>
          </a:p>
          <a:p>
            <a:pPr marL="12700">
              <a:lnSpc>
                <a:spcPts val="685"/>
              </a:lnSpc>
            </a:pPr>
            <a:endParaRPr spc="-10" dirty="0"/>
          </a:p>
        </p:txBody>
      </p:sp>
      <p:sp>
        <p:nvSpPr>
          <p:cNvPr id="12" name="object 12"/>
          <p:cNvSpPr txBox="1"/>
          <p:nvPr/>
        </p:nvSpPr>
        <p:spPr>
          <a:xfrm>
            <a:off x="3121736" y="3344944"/>
            <a:ext cx="402514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85"/>
              </a:lnSpc>
            </a:pPr>
            <a:fld id="{81D60167-4931-47E6-BA6A-407CBD079E47}" type="slidenum">
              <a:rPr sz="600" b="1" spc="75" smtClean="0">
                <a:solidFill>
                  <a:srgbClr val="FFFFFF"/>
                </a:solidFill>
                <a:latin typeface="Arial"/>
                <a:cs typeface="Arial"/>
              </a:rPr>
              <a:t>17</a:t>
            </a:fld>
            <a:r>
              <a:rPr sz="600" b="1" spc="75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lang="en-US" sz="600" b="1" spc="-50" dirty="0">
                <a:solidFill>
                  <a:srgbClr val="FFFFFF"/>
                </a:solidFill>
                <a:latin typeface="Arial"/>
                <a:cs typeface="Arial"/>
              </a:rPr>
              <a:t>17</a:t>
            </a:r>
            <a:endParaRPr sz="6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302</TotalTime>
  <Words>1640</Words>
  <Application>Microsoft Office PowerPoint</Application>
  <PresentationFormat>Custom</PresentationFormat>
  <Paragraphs>240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Tahoma</vt:lpstr>
      <vt:lpstr>Times New Roman</vt:lpstr>
      <vt:lpstr>Office Theme</vt:lpstr>
      <vt:lpstr>Fire and Smoke Detection using Deep Learning Models </vt:lpstr>
      <vt:lpstr>Presentation 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CHINTAKUNTA GURU DINESH REDDY - 122121301 - MITMPL</cp:lastModifiedBy>
  <cp:revision>7</cp:revision>
  <dcterms:created xsi:type="dcterms:W3CDTF">2026-03-23T08:53:48Z</dcterms:created>
  <dcterms:modified xsi:type="dcterms:W3CDTF">2026-04-02T05:01:43Z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2024-03-04T00:00:00Z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2026-03-23T00:00:00Z</vt:filetime>
  </property>
  <property fmtid="{D5CDD505-2E9C-101B-9397-08002B2CF9AE}" pid="5" name="PTEX.Fullbanner">
    <vt:lpwstr>This is MiKTeX-pdfTeX 4.0.1 (1.40.21)</vt:lpwstr>
  </property>
  <property fmtid="{D5CDD505-2E9C-101B-9397-08002B2CF9AE}" pid="6" name="Producer">
    <vt:lpwstr>MiKTeX pdfTeX-1.40.21</vt:lpwstr>
  </property>
</Properties>
</file>